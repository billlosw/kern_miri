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40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4" r:id="rId12"/>
    <p:sldId id="289" r:id="rId13"/>
    <p:sldId id="283" r:id="rId14"/>
    <p:sldId id="286" r:id="rId15"/>
    <p:sldId id="287" r:id="rId16"/>
    <p:sldId id="291" r:id="rId17"/>
    <p:sldId id="288" r:id="rId18"/>
    <p:sldId id="290" r:id="rId19"/>
    <p:sldId id="285" r:id="rId20"/>
    <p:sldId id="292" r:id="rId21"/>
    <p:sldId id="293" r:id="rId22"/>
    <p:sldId id="295" r:id="rId23"/>
    <p:sldId id="296" r:id="rId24"/>
    <p:sldId id="294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5" r:id="rId33"/>
    <p:sldId id="306" r:id="rId34"/>
    <p:sldId id="307" r:id="rId35"/>
    <p:sldId id="308" r:id="rId36"/>
    <p:sldId id="309" r:id="rId37"/>
    <p:sldId id="310" r:id="rId38"/>
    <p:sldId id="311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307D"/>
    <a:srgbClr val="FFFFFF"/>
    <a:srgbClr val="F6F4F7"/>
    <a:srgbClr val="93549F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8" autoAdjust="0"/>
    <p:restoredTop sz="86378"/>
  </p:normalViewPr>
  <p:slideViewPr>
    <p:cSldViewPr snapToGrid="0" snapToObjects="1">
      <p:cViewPr varScale="1">
        <p:scale>
          <a:sx n="105" d="100"/>
          <a:sy n="105" d="100"/>
        </p:scale>
        <p:origin x="69" y="48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7801A0AD-A4D9-2B48-AB5E-2388481E37AE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7A9D506-C91D-DF44-8641-48F37CD3C15A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A1E2328B-A4C4-764E-ACC8-998B2E63C537}"/>
                </a:ext>
              </a:extLst>
            </p:cNvPr>
            <p:cNvSpPr/>
            <p:nvPr userDrawn="1"/>
          </p:nvSpPr>
          <p:spPr>
            <a:xfrm>
              <a:off x="599225" y="1921565"/>
              <a:ext cx="821803" cy="867934"/>
            </a:xfrm>
            <a:prstGeom prst="halfFrame">
              <a:avLst>
                <a:gd name="adj1" fmla="val 23474"/>
                <a:gd name="adj2" fmla="val 23475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0533506A-6FCC-464D-8406-9673E74408CF}"/>
                </a:ext>
              </a:extLst>
            </p:cNvPr>
            <p:cNvSpPr/>
            <p:nvPr userDrawn="1"/>
          </p:nvSpPr>
          <p:spPr>
            <a:xfrm>
              <a:off x="10161778" y="3614195"/>
              <a:ext cx="1430996" cy="2106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194A483F-9AA2-A24C-BA23-AD5256267A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351" y="399605"/>
            <a:ext cx="2538904" cy="107441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3FE9298-60C2-9548-BC1E-E8694904B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169" y="2028084"/>
            <a:ext cx="10265664" cy="1356406"/>
          </a:xfrm>
          <a:prstGeom prst="rect">
            <a:avLst/>
          </a:prstGeom>
          <a:effectLst/>
        </p:spPr>
        <p:txBody>
          <a:bodyPr anchor="b">
            <a:normAutofit/>
          </a:bodyPr>
          <a:lstStyle>
            <a:lvl1pPr algn="l">
              <a:defRPr lang="en-US" altLang="en-US" sz="3600" b="0" kern="1200" cap="all" dirty="0">
                <a:solidFill>
                  <a:srgbClr val="5C30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19054"/>
            <a:ext cx="10265664" cy="1340999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FB8BDD-FC0A-384D-B32A-D2CC0933A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A11234-2E12-B147-A4FF-3B498979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FFF194-7BE9-7440-90F5-0BA3D1B4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377" y="2180498"/>
            <a:ext cx="10521387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B3414000-0475-7845-9508-337FFFC1B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2265DA69-D9B6-384B-91FC-5C225D983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12" name="页脚占位符 11">
            <a:extLst>
              <a:ext uri="{FF2B5EF4-FFF2-40B4-BE49-F238E27FC236}">
                <a16:creationId xmlns:a16="http://schemas.microsoft.com/office/drawing/2014/main" id="{198CD9FF-6143-0B4F-B35B-FC5B48F3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B99E00C6-785E-8740-9B07-6D282AB5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883" y="2118167"/>
            <a:ext cx="10178926" cy="3602477"/>
          </a:xfrm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597317"/>
            <a:ext cx="2844799" cy="365125"/>
          </a:xfrm>
        </p:spPr>
        <p:txBody>
          <a:bodyPr/>
          <a:lstStyle/>
          <a:p>
            <a:fld id="{E4551058-E5DB-324A-A8E9-6D3BEF243C3B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31882" y="5592991"/>
            <a:ext cx="6066519" cy="365125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597317"/>
            <a:ext cx="1052508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882" y="490438"/>
            <a:ext cx="10178925" cy="13514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36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-2692137" y="3263038"/>
            <a:ext cx="6858000" cy="33192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486C05D-29C6-DD43-A707-AAD5F66C1615}"/>
              </a:ext>
            </a:extLst>
          </p:cNvPr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A6CC6FD-0536-1042-94FB-7B29BCD323E4}"/>
              </a:ext>
            </a:extLst>
          </p:cNvPr>
          <p:cNvGrpSpPr/>
          <p:nvPr userDrawn="1"/>
        </p:nvGrpSpPr>
        <p:grpSpPr>
          <a:xfrm>
            <a:off x="599225" y="1736370"/>
            <a:ext cx="10993549" cy="1903301"/>
            <a:chOff x="599225" y="1921565"/>
            <a:chExt cx="10993549" cy="1903301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BB59113-F03A-6147-A467-92DB82160BCD}"/>
                </a:ext>
              </a:extLst>
            </p:cNvPr>
            <p:cNvSpPr/>
            <p:nvPr userDrawn="1"/>
          </p:nvSpPr>
          <p:spPr>
            <a:xfrm>
              <a:off x="599225" y="1921565"/>
              <a:ext cx="10993549" cy="19033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C3E5866-268A-1A4A-BD63-7247C0C32E7C}"/>
                </a:ext>
              </a:extLst>
            </p:cNvPr>
            <p:cNvSpPr/>
            <p:nvPr userDrawn="1"/>
          </p:nvSpPr>
          <p:spPr>
            <a:xfrm>
              <a:off x="599227" y="1921566"/>
              <a:ext cx="192900" cy="19033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" name="Title 1">
            <a:extLst>
              <a:ext uri="{FF2B5EF4-FFF2-40B4-BE49-F238E27FC236}">
                <a16:creationId xmlns:a16="http://schemas.microsoft.com/office/drawing/2014/main" id="{B3AEDE27-05BC-DA44-AA23-81C54830A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169" y="2028083"/>
            <a:ext cx="10265664" cy="1376851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l">
              <a:defRPr lang="en-US" altLang="en-US" sz="3600" b="0" kern="1200" cap="all" dirty="0">
                <a:solidFill>
                  <a:srgbClr val="5C30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8DDB4CB7-B75A-CF44-8C12-E3DE32CE31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169" y="3830629"/>
            <a:ext cx="10265664" cy="1340999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27" name="日期占位符 10">
            <a:extLst>
              <a:ext uri="{FF2B5EF4-FFF2-40B4-BE49-F238E27FC236}">
                <a16:creationId xmlns:a16="http://schemas.microsoft.com/office/drawing/2014/main" id="{2D4038F2-9086-4849-856C-3F44B96D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23545" y="5597323"/>
            <a:ext cx="2523280" cy="365125"/>
          </a:xfrm>
        </p:spPr>
        <p:txBody>
          <a:bodyPr/>
          <a:lstStyle/>
          <a:p>
            <a:fld id="{E4551058-E5DB-324A-A8E9-6D3BEF243C3B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28" name="页脚占位符 11">
            <a:extLst>
              <a:ext uri="{FF2B5EF4-FFF2-40B4-BE49-F238E27FC236}">
                <a16:creationId xmlns:a16="http://schemas.microsoft.com/office/drawing/2014/main" id="{0ED79189-463D-A34A-93FE-02DAF3CA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377" y="5592997"/>
            <a:ext cx="6585500" cy="365125"/>
          </a:xfrm>
        </p:spPr>
        <p:txBody>
          <a:bodyPr/>
          <a:lstStyle/>
          <a:p>
            <a:endParaRPr kumimoji="1" lang="zh-CN" altLang="en-US" dirty="0"/>
          </a:p>
        </p:txBody>
      </p:sp>
      <p:sp>
        <p:nvSpPr>
          <p:cNvPr id="29" name="灯片编号占位符 12">
            <a:extLst>
              <a:ext uri="{FF2B5EF4-FFF2-40B4-BE49-F238E27FC236}">
                <a16:creationId xmlns:a16="http://schemas.microsoft.com/office/drawing/2014/main" id="{81D88334-B4F7-F340-8AA4-0865A0C0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51493" y="5597323"/>
            <a:ext cx="120327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B9F3DE6-D971-6546-AD7E-4FD54F33CDE7}"/>
              </a:ext>
            </a:extLst>
          </p:cNvPr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D9AF46F-872C-C04A-AF83-BC1E8674B16A}"/>
              </a:ext>
            </a:extLst>
          </p:cNvPr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6" y="4914808"/>
            <a:ext cx="385561" cy="10322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463" y="4928762"/>
            <a:ext cx="10333301" cy="65314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>
                <a:solidFill>
                  <a:srgbClr val="5C307D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1463" y="5581910"/>
            <a:ext cx="10333301" cy="365126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>
                <a:solidFill>
                  <a:srgbClr val="5C307D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23545" y="6060170"/>
            <a:ext cx="252328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3377" y="6055844"/>
            <a:ext cx="65855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151493" y="6060170"/>
            <a:ext cx="120327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025F6F4-386D-EB45-974E-2539ED6C5D65}"/>
              </a:ext>
            </a:extLst>
          </p:cNvPr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395677"/>
            <a:ext cx="11029616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496241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C31443F-5E2C-E54C-9450-204B550B7026}"/>
              </a:ext>
            </a:extLst>
          </p:cNvPr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84030" y="675726"/>
            <a:ext cx="88976" cy="79183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69649" y="675726"/>
            <a:ext cx="1899496" cy="5183073"/>
          </a:xfrm>
          <a:prstGeom prst="rect">
            <a:avLst/>
          </a:prstGeom>
        </p:spPr>
        <p:txBody>
          <a:bodyPr vert="eaVert"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791611" cy="518307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C89D33-28DC-B746-AE7D-E6085CC30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E1EF53-0E9B-E243-B4F1-B1C7F0BD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3DA247-823F-034B-AEC0-494674B60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564E91E-AD25-E84D-B251-2B169689F71C}"/>
              </a:ext>
            </a:extLst>
          </p:cNvPr>
          <p:cNvPicPr/>
          <p:nvPr userDrawn="1"/>
        </p:nvPicPr>
        <p:blipFill rotWithShape="1">
          <a:blip r:embed="rId2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306" y="593424"/>
            <a:ext cx="10521388" cy="1015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376" y="2336003"/>
            <a:ext cx="10521388" cy="3154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23545" y="5597323"/>
            <a:ext cx="2523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3377" y="5592997"/>
            <a:ext cx="6585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51493" y="5597323"/>
            <a:ext cx="1203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305D68B-2B7C-394A-9C3F-F982EDB21D95}"/>
              </a:ext>
            </a:extLst>
          </p:cNvPr>
          <p:cNvPicPr/>
          <p:nvPr userDrawn="1"/>
        </p:nvPicPr>
        <p:blipFill rotWithShape="1">
          <a:blip r:embed="rId14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8876" y="6054012"/>
            <a:ext cx="4191931" cy="475343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281EDAD2-3671-BF43-AEFB-C5625113F562}"/>
              </a:ext>
            </a:extLst>
          </p:cNvPr>
          <p:cNvSpPr/>
          <p:nvPr userDrawn="1"/>
        </p:nvSpPr>
        <p:spPr>
          <a:xfrm>
            <a:off x="586670" y="651024"/>
            <a:ext cx="80595" cy="900000"/>
          </a:xfrm>
          <a:prstGeom prst="roundRect">
            <a:avLst>
              <a:gd name="adj" fmla="val 0"/>
            </a:avLst>
          </a:prstGeom>
          <a:solidFill>
            <a:srgbClr val="5C307D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all">
          <a:solidFill>
            <a:srgbClr val="5C307D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ceos-org/axplat_crates/tree/main/axpla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illlosw/axplat_crates/tree/axplat-kernmiri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hackmd.io/bLRtlCH0T9udi9OLGrrXuQ#KernMiri-An-Overview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illlosw/axplat_crates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F005E0-9377-9044-8967-57A4160651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尝试让 </a:t>
            </a:r>
            <a:r>
              <a:rPr lang="en-US" altLang="zh-CN" dirty="0"/>
              <a:t>O</a:t>
            </a:r>
            <a:r>
              <a:rPr lang="en-US" altLang="zh-Hans-MO" dirty="0"/>
              <a:t>S-checker </a:t>
            </a:r>
            <a:r>
              <a:rPr lang="zh-CN" altLang="en-US" dirty="0"/>
              <a:t>支持 </a:t>
            </a:r>
            <a:r>
              <a:rPr lang="en-US" altLang="zh-Hans-MO" dirty="0" err="1"/>
              <a:t>KernMiri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56EDC8-6865-C043-9F52-A5101097FB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罗绍玮</a:t>
            </a:r>
            <a:endParaRPr kumimoji="1" lang="en-US" altLang="zh-CN" dirty="0"/>
          </a:p>
          <a:p>
            <a:r>
              <a:rPr kumimoji="1" lang="zh-CN" altLang="en-US" dirty="0"/>
              <a:t>计</a:t>
            </a:r>
            <a:r>
              <a:rPr kumimoji="1" lang="en-US" altLang="zh-CN" dirty="0"/>
              <a:t>21</a:t>
            </a:r>
          </a:p>
          <a:p>
            <a:r>
              <a:rPr kumimoji="1" lang="en-US" altLang="zh-CN" dirty="0"/>
              <a:t>2025</a:t>
            </a:r>
            <a:r>
              <a:rPr kumimoji="1" lang="zh-CN" altLang="en-US" dirty="0"/>
              <a:t>年</a:t>
            </a:r>
            <a:r>
              <a:rPr kumimoji="1" lang="en-US" altLang="zh-CN" dirty="0"/>
              <a:t>11</a:t>
            </a:r>
            <a:r>
              <a:rPr kumimoji="1" lang="zh-CN" altLang="en-US" dirty="0"/>
              <a:t>月</a:t>
            </a:r>
            <a:r>
              <a:rPr kumimoji="1" lang="en-US" altLang="zh-CN" dirty="0"/>
              <a:t>11</a:t>
            </a:r>
            <a:r>
              <a:rPr kumimoji="1" lang="zh-CN" altLang="en-US"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685440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988A278-8BB0-4FAB-C0AE-2E70FC6F7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883" y="1718774"/>
            <a:ext cx="10178926" cy="4004109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进展</a:t>
            </a:r>
            <a:endParaRPr lang="en-US" altLang="zh-CN" dirty="0"/>
          </a:p>
          <a:p>
            <a:r>
              <a:rPr lang="en-US" altLang="zh-CN" dirty="0" err="1"/>
              <a:t>KernMiri</a:t>
            </a:r>
            <a:endParaRPr lang="en-US" altLang="zh-CN" dirty="0"/>
          </a:p>
          <a:p>
            <a:r>
              <a:rPr lang="en-US" altLang="zh-CN" dirty="0" err="1"/>
              <a:t>KernMiri-axplat</a:t>
            </a:r>
            <a:r>
              <a:rPr lang="en-US" altLang="zh-CN" dirty="0"/>
              <a:t> </a:t>
            </a:r>
            <a:r>
              <a:rPr lang="zh-CN" altLang="en-US" dirty="0"/>
              <a:t>尝试</a:t>
            </a:r>
            <a:endParaRPr lang="en-US" altLang="zh-CN" dirty="0"/>
          </a:p>
          <a:p>
            <a:pPr lvl="1"/>
            <a:r>
              <a:rPr lang="en-US" altLang="zh-CN" dirty="0"/>
              <a:t>Hello-Kernel</a:t>
            </a:r>
          </a:p>
          <a:p>
            <a:pPr lvl="1"/>
            <a:r>
              <a:rPr lang="en-US" altLang="zh-CN" dirty="0"/>
              <a:t>Hello-Kernel-Mem</a:t>
            </a:r>
          </a:p>
          <a:p>
            <a:r>
              <a:rPr lang="zh-CN" altLang="en-US" dirty="0"/>
              <a:t>后续工作</a:t>
            </a:r>
            <a:endParaRPr lang="en-US" altLang="zh-CN" dirty="0"/>
          </a:p>
          <a:p>
            <a:r>
              <a:rPr lang="en-US" altLang="zh-CN" dirty="0"/>
              <a:t>Q&amp;A</a:t>
            </a:r>
            <a:endParaRPr lang="zh-Hans-MO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A3D2D7C-2421-0C17-B09C-FAC987BD3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140551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4A34A-F960-20CA-FBF1-8569D28EB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F793F-6F72-1F94-0473-99328E8067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目前进展</a:t>
            </a:r>
            <a:endParaRPr lang="zh-Hans-MO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48FEC9-3BA5-A45F-6AB8-831C6B4D3A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4077026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8958E8A-5B60-8B20-1FB1-77B91BEE3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1800" dirty="0"/>
              <a:t>主要了解 </a:t>
            </a:r>
            <a:r>
              <a:rPr lang="en-US" altLang="zh-CN" sz="1800" dirty="0" err="1"/>
              <a:t>KernMiri</a:t>
            </a:r>
            <a:r>
              <a:rPr lang="en-US" altLang="zh-CN" sz="1800" dirty="0"/>
              <a:t> </a:t>
            </a:r>
            <a:r>
              <a:rPr lang="zh-CN" altLang="en-US" sz="1800" dirty="0"/>
              <a:t>的一些实现以及环境上的配置。</a:t>
            </a:r>
            <a:endParaRPr lang="en-US" altLang="zh-CN" sz="1800" dirty="0"/>
          </a:p>
          <a:p>
            <a:pPr marL="0" indent="0">
              <a:buNone/>
            </a:pPr>
            <a:endParaRPr lang="zh-Hans-MO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8DD2BE1-0E2B-128C-3423-1117A89D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前四周进展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1155387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DF54E-594D-0501-D6F7-9205F4A0B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9EBFD78-BBC4-6B1F-5DAB-D45A4A59D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367" y="2288351"/>
            <a:ext cx="2303718" cy="8721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zh-CN" altLang="en-US" sz="2000" dirty="0"/>
              <a:t>第五周：</a:t>
            </a:r>
            <a:endParaRPr lang="en-US" altLang="zh-CN" sz="1800" dirty="0"/>
          </a:p>
          <a:p>
            <a:pPr>
              <a:buFont typeface="Wingdings" panose="05000000000000000000" pitchFamily="2" charset="2"/>
              <a:buChar char="§"/>
            </a:pPr>
            <a:endParaRPr lang="zh-Hans-MO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2AC8932-1397-5ABF-1718-4155179B2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后四周进展</a:t>
            </a:r>
            <a:endParaRPr lang="zh-Hans-MO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E517C8-AE61-A413-0ADB-A5265AEC6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686" y="593424"/>
            <a:ext cx="7572292" cy="3476828"/>
          </a:xfrm>
          <a:prstGeom prst="rect">
            <a:avLst/>
          </a:prstGeom>
        </p:spPr>
      </p:pic>
      <p:sp>
        <p:nvSpPr>
          <p:cNvPr id="6" name="内容占位符 1">
            <a:extLst>
              <a:ext uri="{FF2B5EF4-FFF2-40B4-BE49-F238E27FC236}">
                <a16:creationId xmlns:a16="http://schemas.microsoft.com/office/drawing/2014/main" id="{F40F9BF4-616E-229C-6A4A-30FA92FDE99B}"/>
              </a:ext>
            </a:extLst>
          </p:cNvPr>
          <p:cNvSpPr txBox="1">
            <a:spLocks/>
          </p:cNvSpPr>
          <p:nvPr/>
        </p:nvSpPr>
        <p:spPr>
          <a:xfrm>
            <a:off x="889650" y="4380266"/>
            <a:ext cx="10521388" cy="20046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zh-CN" altLang="en-US" sz="2000" dirty="0"/>
              <a:t>之前用 </a:t>
            </a:r>
            <a:r>
              <a:rPr lang="en-US" altLang="zh-Hans-MO" sz="2000" dirty="0"/>
              <a:t>refactor </a:t>
            </a:r>
            <a:r>
              <a:rPr lang="zh-CN" altLang="en-US" sz="2000" dirty="0"/>
              <a:t>过的 </a:t>
            </a:r>
            <a:r>
              <a:rPr lang="en-US" altLang="zh-Hans-MO" sz="2000" dirty="0" err="1"/>
              <a:t>KernMiri</a:t>
            </a:r>
            <a:r>
              <a:rPr lang="en-US" altLang="zh-Hans-MO" sz="2000" dirty="0"/>
              <a:t> </a:t>
            </a:r>
            <a:r>
              <a:rPr lang="zh-CN" altLang="en-US" sz="2000" dirty="0"/>
              <a:t>去运行星绽会报这个莫名的报错。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zh-CN" altLang="en-US" dirty="0"/>
              <a:t>调研了 </a:t>
            </a:r>
            <a:r>
              <a:rPr lang="en-US" altLang="zh-CN" dirty="0" err="1"/>
              <a:t>ArceOS</a:t>
            </a:r>
            <a:r>
              <a:rPr lang="zh-CN" altLang="en-US" dirty="0"/>
              <a:t>，似乎只要针对 </a:t>
            </a:r>
            <a:r>
              <a:rPr lang="en-US" altLang="zh-CN" dirty="0" err="1"/>
              <a:t>KernMiri</a:t>
            </a:r>
            <a:r>
              <a:rPr lang="en-US" altLang="zh-CN" dirty="0"/>
              <a:t> </a:t>
            </a:r>
            <a:r>
              <a:rPr lang="zh-CN" altLang="en-US" dirty="0"/>
              <a:t>为其实现 </a:t>
            </a:r>
            <a:r>
              <a:rPr lang="en-US" altLang="zh-CN" u="sng" dirty="0" err="1">
                <a:hlinkClick r:id="rId3"/>
              </a:rPr>
              <a:t>axplat</a:t>
            </a:r>
            <a:r>
              <a:rPr lang="zh-CN" altLang="en-US" dirty="0"/>
              <a:t> 中的接口，再略改动一下入口就可以运行。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zh-CN" sz="20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§"/>
            </a:pPr>
            <a:endParaRPr lang="zh-Hans-MO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14172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2AAE2-6464-B905-BC77-5E3451764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9C634BA-30EE-923F-F1D1-266B5B71E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148" y="2288351"/>
            <a:ext cx="2411568" cy="36060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zh-CN" altLang="en-US" sz="2000" dirty="0"/>
              <a:t>那个报错在修改对应的内存布局后就解决了。</a:t>
            </a:r>
            <a:endParaRPr lang="zh-Hans-MO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384E5EA-28A5-3E4B-7C4C-FC950A1C6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后四周进展</a:t>
            </a:r>
            <a:endParaRPr lang="zh-Hans-MO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DDC0CA-B8B6-3D3B-0EB0-EB7CB3F85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493" y="1022251"/>
            <a:ext cx="8163990" cy="433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4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8BD1B-5EE9-C60F-8E44-F99F9AD65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9188E21-8520-BCBF-5DD8-1AD803A1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366" y="2288351"/>
            <a:ext cx="10521387" cy="37232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zh-CN" altLang="en-US" sz="2000" dirty="0"/>
              <a:t>第六周：调研解耦的可能性。</a:t>
            </a:r>
            <a:endParaRPr lang="en-US" altLang="zh-CN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zh-CN" altLang="en-US" sz="1800" dirty="0"/>
              <a:t>但似乎做到的可能性很低，因为 </a:t>
            </a:r>
            <a:r>
              <a:rPr lang="en-US" altLang="zh-CN" sz="1800" dirty="0" err="1"/>
              <a:t>InterpCx</a:t>
            </a:r>
            <a:r>
              <a:rPr lang="en-US" altLang="zh-CN" sz="1800" dirty="0"/>
              <a:t> </a:t>
            </a:r>
            <a:r>
              <a:rPr lang="zh-CN" altLang="en-US" sz="1800" dirty="0"/>
              <a:t>和编译器版本直接关联，只要编译器更新了接口也会跟着改变。</a:t>
            </a:r>
            <a:endParaRPr lang="en-US" altLang="zh-CN" sz="1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zh-CN" altLang="en-US" dirty="0"/>
              <a:t>解耦的另一个可能性就是，把 </a:t>
            </a:r>
            <a:r>
              <a:rPr lang="en-US" altLang="zh-CN" dirty="0" err="1"/>
              <a:t>KernMiri</a:t>
            </a:r>
            <a:r>
              <a:rPr lang="en-US" altLang="zh-CN" dirty="0"/>
              <a:t> </a:t>
            </a:r>
            <a:r>
              <a:rPr lang="zh-CN" altLang="en-US" dirty="0"/>
              <a:t>做成一个 </a:t>
            </a:r>
            <a:r>
              <a:rPr lang="en-US" altLang="zh-CN" dirty="0"/>
              <a:t>crate </a:t>
            </a:r>
            <a:r>
              <a:rPr lang="zh-CN" altLang="en-US" dirty="0"/>
              <a:t>供于 </a:t>
            </a:r>
            <a:r>
              <a:rPr lang="en-US" altLang="zh-CN" dirty="0"/>
              <a:t>Miri </a:t>
            </a:r>
            <a:r>
              <a:rPr lang="zh-CN" altLang="en-US" dirty="0"/>
              <a:t>直接调用。但因为 </a:t>
            </a:r>
            <a:r>
              <a:rPr lang="en-US" altLang="zh-CN" dirty="0" err="1"/>
              <a:t>KernMiri</a:t>
            </a:r>
            <a:r>
              <a:rPr lang="en-US" altLang="zh-CN" dirty="0"/>
              <a:t> </a:t>
            </a:r>
            <a:r>
              <a:rPr lang="zh-CN" altLang="en-US" dirty="0"/>
              <a:t>很多的改动都是直接修改 </a:t>
            </a:r>
            <a:r>
              <a:rPr lang="en-US" altLang="zh-CN" dirty="0"/>
              <a:t>Miri </a:t>
            </a:r>
            <a:r>
              <a:rPr lang="zh-CN" altLang="en-US" dirty="0"/>
              <a:t>在处理内存分配行为的代码，似乎也做不到这层面的解耦？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zh-CN" dirty="0"/>
          </a:p>
          <a:p>
            <a:pPr>
              <a:buFont typeface="Wingdings" panose="05000000000000000000" pitchFamily="2" charset="2"/>
              <a:buChar char="§"/>
            </a:pPr>
            <a:r>
              <a:rPr lang="zh-CN" altLang="en-US" dirty="0"/>
              <a:t>初步把 </a:t>
            </a:r>
            <a:r>
              <a:rPr lang="en-US" altLang="zh-CN" dirty="0" err="1"/>
              <a:t>KernMiri</a:t>
            </a:r>
            <a:r>
              <a:rPr lang="en-US" altLang="zh-CN" dirty="0"/>
              <a:t> </a:t>
            </a:r>
            <a:r>
              <a:rPr lang="zh-CN" altLang="en-US" dirty="0"/>
              <a:t>的工具链版本升到 </a:t>
            </a:r>
            <a:r>
              <a:rPr lang="en-US" altLang="zh-CN" dirty="0"/>
              <a:t>nightly-2025-02-01</a:t>
            </a:r>
            <a:r>
              <a:rPr lang="zh-CN" altLang="en-US" dirty="0"/>
              <a:t>，与星绽目前所用的工具链一致。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zh-CN" dirty="0"/>
          </a:p>
          <a:p>
            <a:pPr>
              <a:buFont typeface="Wingdings" panose="05000000000000000000" pitchFamily="2" charset="2"/>
              <a:buChar char="§"/>
            </a:pPr>
            <a:endParaRPr lang="zh-Hans-MO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9F876C9-CF9D-C760-0DC2-CEE5B4FA5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后四周进展</a:t>
            </a:r>
            <a:endParaRPr lang="zh-Hans-MO" altLang="en-US" dirty="0"/>
          </a:p>
        </p:txBody>
      </p:sp>
      <p:sp>
        <p:nvSpPr>
          <p:cNvPr id="6" name="内容占位符 1">
            <a:extLst>
              <a:ext uri="{FF2B5EF4-FFF2-40B4-BE49-F238E27FC236}">
                <a16:creationId xmlns:a16="http://schemas.microsoft.com/office/drawing/2014/main" id="{7EE37D87-DF05-AA02-1A53-FA1C1D2A7C2F}"/>
              </a:ext>
            </a:extLst>
          </p:cNvPr>
          <p:cNvSpPr txBox="1">
            <a:spLocks/>
          </p:cNvSpPr>
          <p:nvPr/>
        </p:nvSpPr>
        <p:spPr>
          <a:xfrm>
            <a:off x="835306" y="4574345"/>
            <a:ext cx="10521388" cy="20046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0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§"/>
            </a:pPr>
            <a:endParaRPr lang="zh-Hans-MO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88575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DD51F-FC6D-2786-0F9C-8A4C21FFA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E71EBA7-2C62-3CD6-CA29-A791F556E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366" y="2288351"/>
            <a:ext cx="10521387" cy="37232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zh-CN" altLang="en-US" sz="2000" dirty="0"/>
              <a:t>第七周：调研稳定 </a:t>
            </a:r>
            <a:r>
              <a:rPr lang="en-US" altLang="zh-CN" sz="2000" dirty="0"/>
              <a:t>MIR </a:t>
            </a:r>
            <a:r>
              <a:rPr lang="zh-CN" altLang="en-US" sz="2000" dirty="0"/>
              <a:t>的解耦方法。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zh-CN" sz="1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zh-CN" altLang="en-US" dirty="0"/>
              <a:t>确实有 </a:t>
            </a:r>
            <a:r>
              <a:rPr lang="en-US" altLang="zh-CN" dirty="0"/>
              <a:t>Stable-MIR </a:t>
            </a:r>
            <a:r>
              <a:rPr lang="zh-CN" altLang="en-US" dirty="0"/>
              <a:t>和 </a:t>
            </a:r>
            <a:r>
              <a:rPr lang="en-US" altLang="zh-CN" dirty="0"/>
              <a:t>Charon </a:t>
            </a:r>
            <a:r>
              <a:rPr lang="zh-CN" altLang="en-US" dirty="0"/>
              <a:t>这类的项目能提供稳定的 </a:t>
            </a:r>
            <a:r>
              <a:rPr lang="en-US" altLang="zh-CN" dirty="0"/>
              <a:t>"MIR“ </a:t>
            </a:r>
            <a:r>
              <a:rPr lang="zh-CN" altLang="en-US" dirty="0"/>
              <a:t>层面的讯息。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zh-CN" altLang="en-US" dirty="0"/>
              <a:t>他们出现的目的是为了让静态分析工具如 </a:t>
            </a:r>
            <a:r>
              <a:rPr lang="en-US" altLang="zh-CN" dirty="0"/>
              <a:t>Kani </a:t>
            </a:r>
            <a:r>
              <a:rPr lang="zh-CN" altLang="en-US" dirty="0"/>
              <a:t>等能够不太关注编译器的改动。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zh-C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zh-CN" altLang="en-US" dirty="0"/>
              <a:t>然而他们都是提供了 </a:t>
            </a:r>
            <a:r>
              <a:rPr lang="en-US" altLang="zh-CN" dirty="0"/>
              <a:t>"MIR“ </a:t>
            </a:r>
            <a:r>
              <a:rPr lang="zh-CN" altLang="en-US" dirty="0"/>
              <a:t>层面的讯息。</a:t>
            </a:r>
            <a:r>
              <a:rPr lang="en-US" altLang="zh-CN" dirty="0"/>
              <a:t>Miri </a:t>
            </a:r>
            <a:r>
              <a:rPr lang="zh-CN" altLang="en-US" dirty="0"/>
              <a:t>和 </a:t>
            </a:r>
            <a:r>
              <a:rPr lang="en-US" altLang="zh-CN" dirty="0" err="1"/>
              <a:t>KernMiri</a:t>
            </a:r>
            <a:r>
              <a:rPr lang="zh-CN" altLang="en-US" dirty="0"/>
              <a:t>想要的是 </a:t>
            </a:r>
            <a:r>
              <a:rPr lang="en-US" altLang="zh-CN" dirty="0"/>
              <a:t>"</a:t>
            </a:r>
            <a:r>
              <a:rPr lang="zh-CN" altLang="en-US" dirty="0"/>
              <a:t>稳定</a:t>
            </a:r>
            <a:r>
              <a:rPr lang="en-US" altLang="zh-CN" dirty="0"/>
              <a:t>MIR" </a:t>
            </a:r>
            <a:r>
              <a:rPr lang="zh-CN" altLang="en-US" dirty="0"/>
              <a:t>的 </a:t>
            </a:r>
            <a:r>
              <a:rPr lang="en-US" altLang="zh-CN" dirty="0"/>
              <a:t>"</a:t>
            </a:r>
            <a:r>
              <a:rPr lang="zh-CN" altLang="en-US" dirty="0"/>
              <a:t>解释器”。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zh-CN" altLang="en-US" dirty="0"/>
              <a:t>与之相似的有一个之前由 </a:t>
            </a:r>
            <a:r>
              <a:rPr lang="en-US" altLang="zh-CN" dirty="0"/>
              <a:t>Facebook </a:t>
            </a:r>
            <a:r>
              <a:rPr lang="zh-CN" altLang="en-US" dirty="0"/>
              <a:t>提出的 </a:t>
            </a:r>
            <a:r>
              <a:rPr lang="en-US" altLang="zh-CN" dirty="0"/>
              <a:t>MIRAI</a:t>
            </a:r>
            <a:r>
              <a:rPr lang="zh-CN" altLang="en-US" dirty="0"/>
              <a:t>，但他们的做法也是和 </a:t>
            </a:r>
            <a:r>
              <a:rPr lang="en-US" altLang="zh-CN" dirty="0"/>
              <a:t>Miri </a:t>
            </a:r>
            <a:r>
              <a:rPr lang="zh-CN" altLang="en-US" dirty="0"/>
              <a:t>一样每版本适配。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§"/>
            </a:pPr>
            <a:endParaRPr lang="zh-Hans-MO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A095D25-4162-CB7E-F492-53177D59F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后四周进展</a:t>
            </a:r>
            <a:endParaRPr lang="zh-Hans-MO" altLang="en-US" dirty="0"/>
          </a:p>
        </p:txBody>
      </p:sp>
      <p:sp>
        <p:nvSpPr>
          <p:cNvPr id="6" name="内容占位符 1">
            <a:extLst>
              <a:ext uri="{FF2B5EF4-FFF2-40B4-BE49-F238E27FC236}">
                <a16:creationId xmlns:a16="http://schemas.microsoft.com/office/drawing/2014/main" id="{3C001346-DDC4-FE8B-C1C5-A67859948519}"/>
              </a:ext>
            </a:extLst>
          </p:cNvPr>
          <p:cNvSpPr txBox="1">
            <a:spLocks/>
          </p:cNvSpPr>
          <p:nvPr/>
        </p:nvSpPr>
        <p:spPr>
          <a:xfrm>
            <a:off x="835306" y="4574345"/>
            <a:ext cx="10521388" cy="20046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0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§"/>
            </a:pPr>
            <a:endParaRPr lang="zh-Hans-MO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59495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DF4BE-D6CE-990A-3441-3E84C85FC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361A6D2-8221-BEAF-180C-05DFF0A81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366" y="2288351"/>
            <a:ext cx="10521387" cy="37232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zh-CN" altLang="en-US" sz="2000" dirty="0"/>
              <a:t>第八周：</a:t>
            </a:r>
            <a:endParaRPr lang="en-US" altLang="zh-CN" sz="2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zh-CN" altLang="en-US" dirty="0"/>
              <a:t>升级 </a:t>
            </a:r>
            <a:r>
              <a:rPr lang="en-US" altLang="zh-Hans-MO" dirty="0" err="1"/>
              <a:t>KernMiri</a:t>
            </a:r>
            <a:r>
              <a:rPr lang="en-US" altLang="zh-Hans-MO" dirty="0"/>
              <a:t> </a:t>
            </a:r>
            <a:r>
              <a:rPr lang="zh-CN" altLang="en-US" dirty="0"/>
              <a:t>工具链到 </a:t>
            </a:r>
            <a:r>
              <a:rPr lang="en-US" altLang="zh-CN" dirty="0"/>
              <a:t>2025-05-20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尝试在 </a:t>
            </a:r>
            <a:r>
              <a:rPr lang="en-US" altLang="zh-CN" dirty="0" err="1"/>
              <a:t>axplat</a:t>
            </a:r>
            <a:r>
              <a:rPr lang="en-US" altLang="zh-CN" dirty="0"/>
              <a:t> </a:t>
            </a:r>
            <a:r>
              <a:rPr lang="zh-CN" altLang="en-US" dirty="0"/>
              <a:t>实现一个新的架构 </a:t>
            </a:r>
            <a:r>
              <a:rPr lang="en-US" altLang="zh-CN" dirty="0"/>
              <a:t>miri</a:t>
            </a:r>
            <a:r>
              <a:rPr lang="zh-CN" altLang="en-US" dirty="0"/>
              <a:t>，去尝试适配 </a:t>
            </a:r>
            <a:r>
              <a:rPr lang="en-US" altLang="zh-CN" dirty="0" err="1"/>
              <a:t>ArceOS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Hans-MO" u="sng" dirty="0">
                <a:hlinkClick r:id="rId2"/>
              </a:rPr>
              <a:t>https://github.com/billlosw/axplat_crates/tree/axplat-kernmiri</a:t>
            </a:r>
            <a:endParaRPr lang="zh-CN" altLang="en-US" dirty="0"/>
          </a:p>
          <a:p>
            <a:pPr marL="0" indent="0">
              <a:buNone/>
            </a:pPr>
            <a:endParaRPr lang="en-US" altLang="zh-CN" sz="1800" dirty="0"/>
          </a:p>
          <a:p>
            <a:pPr>
              <a:buFont typeface="Wingdings" panose="05000000000000000000" pitchFamily="2" charset="2"/>
              <a:buChar char="§"/>
            </a:pPr>
            <a:endParaRPr lang="zh-Hans-MO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BFCB825-C5D4-1674-8B6C-E3EE4933F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后四周进展</a:t>
            </a:r>
            <a:endParaRPr lang="zh-Hans-MO" altLang="en-US" dirty="0"/>
          </a:p>
        </p:txBody>
      </p:sp>
      <p:sp>
        <p:nvSpPr>
          <p:cNvPr id="6" name="内容占位符 1">
            <a:extLst>
              <a:ext uri="{FF2B5EF4-FFF2-40B4-BE49-F238E27FC236}">
                <a16:creationId xmlns:a16="http://schemas.microsoft.com/office/drawing/2014/main" id="{152A7217-62EB-D687-726B-380E83E2499E}"/>
              </a:ext>
            </a:extLst>
          </p:cNvPr>
          <p:cNvSpPr txBox="1">
            <a:spLocks/>
          </p:cNvSpPr>
          <p:nvPr/>
        </p:nvSpPr>
        <p:spPr>
          <a:xfrm>
            <a:off x="835306" y="4574345"/>
            <a:ext cx="10521388" cy="20046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000" dirty="0"/>
          </a:p>
          <a:p>
            <a:pPr lvl="1">
              <a:buFont typeface="Wingdings" panose="05000000000000000000" pitchFamily="2" charset="2"/>
              <a:buChar char="§"/>
            </a:pPr>
            <a:endParaRPr lang="en-US" altLang="zh-CN" sz="2000" dirty="0"/>
          </a:p>
          <a:p>
            <a:pPr>
              <a:buFont typeface="Wingdings" panose="05000000000000000000" pitchFamily="2" charset="2"/>
              <a:buChar char="§"/>
            </a:pPr>
            <a:endParaRPr lang="zh-Hans-MO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003531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EA8DF-4985-B751-FE8E-D2EB77E9C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39C94C-A0EA-A908-9352-7A77C94628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kernmiri</a:t>
            </a:r>
            <a:endParaRPr lang="zh-Hans-MO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69C81F-77E8-F9C9-685A-F0AB448F40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Hans-MO" dirty="0">
                <a:hlinkClick r:id="rId2"/>
              </a:rPr>
              <a:t>https://hackmd.io/bLRtlCH0T9udi9OLGrrXuQ#KernMiri-An-Overview</a:t>
            </a:r>
            <a:endParaRPr lang="en-US" altLang="zh-Hans-MO" dirty="0"/>
          </a:p>
          <a:p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2917052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68F47-5DE6-CEA7-B68F-8815B2372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43AD16C-00B3-7E5C-E2E3-757AF00CC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3" y="2034901"/>
            <a:ext cx="5416247" cy="4220302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其出现的动机是因为，</a:t>
            </a:r>
            <a:r>
              <a:rPr lang="en-US" altLang="zh-CN" sz="2000" dirty="0"/>
              <a:t>Miri :</a:t>
            </a:r>
          </a:p>
          <a:p>
            <a:pPr lvl="1"/>
            <a:r>
              <a:rPr lang="zh-CN" altLang="en-US" sz="1800" dirty="0"/>
              <a:t>无法理解与硬件直接交互的特权指令；</a:t>
            </a:r>
            <a:endParaRPr lang="en-US" altLang="zh-CN" sz="1800" dirty="0"/>
          </a:p>
          <a:p>
            <a:pPr lvl="1"/>
            <a:r>
              <a:rPr lang="zh-CN" altLang="en-US" sz="1800" dirty="0"/>
              <a:t>不支持内联汇编；</a:t>
            </a:r>
            <a:endParaRPr lang="en-US" altLang="zh-CN" sz="1800" dirty="0"/>
          </a:p>
          <a:p>
            <a:pPr lvl="1"/>
            <a:r>
              <a:rPr lang="zh-CN" altLang="en-US" sz="1800" dirty="0"/>
              <a:t>内存管理只支持管控</a:t>
            </a:r>
            <a:r>
              <a:rPr lang="en-US" altLang="zh-Hans-MO" sz="1800" dirty="0"/>
              <a:t>Rust runtim</a:t>
            </a:r>
            <a:r>
              <a:rPr lang="en-US" altLang="zh-CN" sz="1800" dirty="0"/>
              <a:t>e</a:t>
            </a:r>
            <a:r>
              <a:rPr lang="zh-CN" altLang="en-US" sz="1800" dirty="0"/>
              <a:t>中创建的。</a:t>
            </a:r>
            <a:endParaRPr lang="en-US" altLang="zh-CN" sz="1800" dirty="0"/>
          </a:p>
          <a:p>
            <a:pPr lvl="1"/>
            <a:endParaRPr lang="en-US" altLang="zh-CN" sz="1800" dirty="0"/>
          </a:p>
          <a:p>
            <a:r>
              <a:rPr lang="en-US" altLang="zh-CN" sz="2000" dirty="0"/>
              <a:t>Miri </a:t>
            </a:r>
            <a:r>
              <a:rPr lang="zh-CN" altLang="en-US" sz="2000" dirty="0"/>
              <a:t>假设其跑的程序没有用地址</a:t>
            </a:r>
            <a:r>
              <a:rPr lang="en-US" altLang="zh-CN" sz="2000" dirty="0"/>
              <a:t>(</a:t>
            </a:r>
            <a:r>
              <a:rPr lang="zh-CN" altLang="en-US" sz="2000" dirty="0"/>
              <a:t>指针</a:t>
            </a:r>
            <a:r>
              <a:rPr lang="en-US" altLang="zh-CN" sz="2000" dirty="0"/>
              <a:t>)</a:t>
            </a:r>
            <a:r>
              <a:rPr lang="zh-CN" altLang="en-US" sz="2000" dirty="0"/>
              <a:t>直接操作物理内存的操作。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但内核中存在很多直接操作物理内存的操作。</a:t>
            </a:r>
            <a:endParaRPr lang="en-US" altLang="zh-CN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7473F61-F6D5-F180-9ED0-103211AA0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 err="1"/>
              <a:t>Kernmiri</a:t>
            </a:r>
            <a:r>
              <a:rPr lang="en-US" altLang="zh-CN" dirty="0"/>
              <a:t>-</a:t>
            </a:r>
            <a:r>
              <a:rPr lang="zh-CN" altLang="en-US" dirty="0"/>
              <a:t>动机</a:t>
            </a:r>
            <a:endParaRPr lang="zh-Hans-MO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0301C80-0581-F999-44DE-57621E5A71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3" t="2342" r="51629"/>
          <a:stretch>
            <a:fillRect/>
          </a:stretch>
        </p:blipFill>
        <p:spPr>
          <a:xfrm>
            <a:off x="7079267" y="1101024"/>
            <a:ext cx="4521266" cy="467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812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973F2-4838-770B-A204-30E1504A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72A4D5D-B51A-C56E-C2F9-24F51121B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306" y="2044274"/>
            <a:ext cx="6297014" cy="4220302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Mitch </a:t>
            </a:r>
            <a:r>
              <a:rPr lang="en-US" altLang="zh-Hans-MO" sz="2000" dirty="0"/>
              <a:t>a minimalism, pseudo-CPU architecture</a:t>
            </a:r>
            <a:r>
              <a:rPr lang="zh-CN" altLang="en-US" sz="2000" dirty="0"/>
              <a:t>：</a:t>
            </a:r>
            <a:endParaRPr lang="en-US" altLang="zh-CN" sz="2000" b="1" dirty="0">
              <a:solidFill>
                <a:schemeClr val="accent1"/>
              </a:solidFill>
            </a:endParaRPr>
          </a:p>
          <a:p>
            <a:pPr lvl="1"/>
            <a:r>
              <a:rPr lang="zh-CN" altLang="en-US" sz="1800" dirty="0"/>
              <a:t>以 </a:t>
            </a:r>
            <a:r>
              <a:rPr lang="en-US" altLang="zh-CN" sz="1800" dirty="0"/>
              <a:t>MIR </a:t>
            </a:r>
            <a:r>
              <a:rPr lang="zh-CN" altLang="en-US" sz="1800" dirty="0"/>
              <a:t>作为其 </a:t>
            </a:r>
            <a:r>
              <a:rPr lang="en-US" altLang="zh-Hans-MO" sz="1800" dirty="0"/>
              <a:t>instruction set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lvl="1"/>
            <a:r>
              <a:rPr lang="zh-CN" altLang="en-US" sz="1800" dirty="0"/>
              <a:t>支持 </a:t>
            </a:r>
            <a:r>
              <a:rPr lang="en-US" altLang="zh-Hans-MO" sz="1800" dirty="0"/>
              <a:t>three-level paging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lvl="1"/>
            <a:endParaRPr lang="en-US" altLang="zh-CN" sz="1800" b="1" dirty="0">
              <a:solidFill>
                <a:schemeClr val="accent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这样只需要 </a:t>
            </a:r>
            <a:r>
              <a:rPr lang="en-US" altLang="zh-CN" sz="2000" dirty="0">
                <a:solidFill>
                  <a:schemeClr val="tx1"/>
                </a:solidFill>
              </a:rPr>
              <a:t>OS </a:t>
            </a:r>
            <a:r>
              <a:rPr lang="zh-CN" altLang="en-US" sz="2000" dirty="0">
                <a:solidFill>
                  <a:schemeClr val="tx1"/>
                </a:solidFill>
              </a:rPr>
              <a:t>能支持 </a:t>
            </a:r>
            <a:r>
              <a:rPr lang="en-US" altLang="zh-CN" sz="2000" dirty="0">
                <a:solidFill>
                  <a:schemeClr val="tx1"/>
                </a:solidFill>
              </a:rPr>
              <a:t>Mitch </a:t>
            </a:r>
            <a:r>
              <a:rPr lang="zh-CN" altLang="en-US" sz="2000" dirty="0">
                <a:solidFill>
                  <a:schemeClr val="tx1"/>
                </a:solidFill>
              </a:rPr>
              <a:t>这个架构，那就能跑了。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C0BDD00-25B2-1E90-A57C-9BCEA064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 err="1"/>
              <a:t>Kernmiri</a:t>
            </a:r>
            <a:r>
              <a:rPr lang="en-US" altLang="zh-CN" dirty="0"/>
              <a:t>-</a:t>
            </a:r>
            <a:r>
              <a:rPr lang="zh-CN" altLang="en-US" dirty="0"/>
              <a:t>解决方案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2357556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182EB-6447-07D2-0FDA-E684BE8A4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486E019-82BB-C532-D158-C75507B2F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4" y="2180498"/>
            <a:ext cx="4647213" cy="3678303"/>
          </a:xfrm>
        </p:spPr>
        <p:txBody>
          <a:bodyPr>
            <a:normAutofit/>
          </a:bodyPr>
          <a:lstStyle/>
          <a:p>
            <a:r>
              <a:rPr lang="en-US" altLang="zh-CN" sz="2000" dirty="0" err="1"/>
              <a:t>KernMiri</a:t>
            </a:r>
            <a:r>
              <a:rPr lang="en-US" altLang="zh-CN" sz="2000" dirty="0"/>
              <a:t> </a:t>
            </a:r>
            <a:r>
              <a:rPr lang="zh-CN" altLang="en-US" sz="2000" dirty="0"/>
              <a:t>于是乎就选择对 </a:t>
            </a:r>
            <a:r>
              <a:rPr lang="en-US" altLang="zh-CN" sz="2000" dirty="0"/>
              <a:t>Miri </a:t>
            </a:r>
            <a:r>
              <a:rPr lang="zh-CN" altLang="en-US" sz="2000" dirty="0"/>
              <a:t>的内存管理部分进行扩展。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在 </a:t>
            </a:r>
            <a:r>
              <a:rPr lang="en-US" altLang="zh-CN" sz="2000" dirty="0"/>
              <a:t>Miri </a:t>
            </a:r>
            <a:r>
              <a:rPr lang="zh-CN" altLang="en-US" sz="2000" dirty="0"/>
              <a:t>内部以“页”为单位管理一块 </a:t>
            </a:r>
            <a:r>
              <a:rPr lang="en-US" altLang="zh-CN" sz="2000" dirty="0"/>
              <a:t>P</a:t>
            </a:r>
            <a:r>
              <a:rPr lang="en-US" altLang="zh-Hans-MO" sz="2000" dirty="0"/>
              <a:t>seudo-Physical Memory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使得其能有一个模拟物理内存的能力的同时，还能保持 </a:t>
            </a:r>
            <a:r>
              <a:rPr lang="en-US" altLang="zh-CN" sz="2000" dirty="0"/>
              <a:t>Miri </a:t>
            </a:r>
            <a:r>
              <a:rPr lang="zh-CN" altLang="en-US" sz="2000" dirty="0"/>
              <a:t>原有的所有 </a:t>
            </a:r>
            <a:r>
              <a:rPr lang="en-US" altLang="zh-CN" sz="2000" dirty="0"/>
              <a:t>UB(</a:t>
            </a:r>
            <a:r>
              <a:rPr lang="zh-CN" altLang="en-US" sz="2000" dirty="0"/>
              <a:t>包括内存</a:t>
            </a:r>
            <a:r>
              <a:rPr lang="en-US" altLang="zh-CN" sz="2000" dirty="0"/>
              <a:t>)</a:t>
            </a:r>
            <a:r>
              <a:rPr lang="zh-CN" altLang="en-US" sz="2000" dirty="0"/>
              <a:t>检测能力。</a:t>
            </a:r>
            <a:endParaRPr lang="en-US" altLang="zh-CN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3DB376E-E619-EE63-0FB1-809BED649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 err="1"/>
              <a:t>Kernmiri</a:t>
            </a:r>
            <a:r>
              <a:rPr lang="en-US" altLang="zh-CN" dirty="0"/>
              <a:t>-</a:t>
            </a:r>
            <a:r>
              <a:rPr lang="zh-CN" altLang="en-US" dirty="0"/>
              <a:t>内存管理模块</a:t>
            </a:r>
            <a:endParaRPr lang="zh-Hans-MO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CFAA212-DA91-C98B-D16D-2A2FA891F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711" y="1563675"/>
            <a:ext cx="6954310" cy="337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71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F3107-E3A5-C496-16AC-B74D187A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56F04D6-43BA-3FF5-2A6F-BBCE82F37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519" y="1902658"/>
            <a:ext cx="6011779" cy="2827600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具体而言，</a:t>
            </a:r>
            <a:r>
              <a:rPr lang="en-US" altLang="zh-CN" sz="2000" dirty="0"/>
              <a:t>Rust Runtime</a:t>
            </a:r>
            <a:r>
              <a:rPr lang="zh-CN" altLang="en-US" sz="2000" dirty="0"/>
              <a:t> 的变量会直接精确地分配到伪内存的 </a:t>
            </a:r>
            <a:r>
              <a:rPr lang="en-US" altLang="zh-CN" sz="2000" dirty="0"/>
              <a:t>K</a:t>
            </a:r>
            <a:r>
              <a:rPr lang="en-US" altLang="zh-Hans-MO" sz="2000" dirty="0"/>
              <a:t>ernel Code </a:t>
            </a:r>
            <a:r>
              <a:rPr lang="zh-CN" altLang="en-US" sz="2000" dirty="0"/>
              <a:t>段。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而那些由 </a:t>
            </a:r>
            <a:r>
              <a:rPr lang="en-US" altLang="zh-Hans-MO" sz="2000" dirty="0"/>
              <a:t>OS </a:t>
            </a:r>
            <a:r>
              <a:rPr lang="zh-CN" altLang="en-US" sz="2000" dirty="0"/>
              <a:t>自管理的对线</a:t>
            </a:r>
            <a:r>
              <a:rPr lang="en-US" altLang="zh-CN" sz="2000" dirty="0"/>
              <a:t>(</a:t>
            </a:r>
            <a:r>
              <a:rPr lang="zh-CN" altLang="en-US" sz="2000" dirty="0"/>
              <a:t>页表</a:t>
            </a:r>
            <a:r>
              <a:rPr lang="en-US" altLang="zh-CN" sz="2000" dirty="0"/>
              <a:t>, </a:t>
            </a:r>
            <a:r>
              <a:rPr lang="en-US" altLang="zh-Hans-MO" sz="2000" dirty="0"/>
              <a:t>slab)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KernMiri</a:t>
            </a:r>
            <a:r>
              <a:rPr lang="en-US" altLang="zh-CN" sz="2000" dirty="0"/>
              <a:t> </a:t>
            </a:r>
            <a:r>
              <a:rPr lang="zh-CN" altLang="en-US" sz="2000" dirty="0"/>
              <a:t>提供了 </a:t>
            </a:r>
            <a:r>
              <a:rPr lang="en-US" altLang="zh-CN" sz="2000" dirty="0"/>
              <a:t>shims </a:t>
            </a:r>
            <a:r>
              <a:rPr lang="zh-CN" altLang="en-US" sz="2000" dirty="0"/>
              <a:t>使得 </a:t>
            </a:r>
            <a:r>
              <a:rPr lang="en-US" altLang="zh-Hans-MO" sz="2000" dirty="0"/>
              <a:t>OS </a:t>
            </a:r>
            <a:r>
              <a:rPr lang="zh-CN" altLang="en-US" sz="2000" dirty="0"/>
              <a:t>能在</a:t>
            </a:r>
            <a:r>
              <a:rPr lang="zh-CN" altLang="en-US" sz="2000" b="1" dirty="0">
                <a:solidFill>
                  <a:schemeClr val="accent1"/>
                </a:solidFill>
              </a:rPr>
              <a:t>指定的物理頁面</a:t>
            </a:r>
            <a:r>
              <a:rPr lang="zh-CN" altLang="en-US" sz="2000" dirty="0"/>
              <a:t>上创建 </a:t>
            </a:r>
            <a:r>
              <a:rPr lang="en-US" altLang="zh-Hans-MO" sz="2000" dirty="0"/>
              <a:t>Miri </a:t>
            </a:r>
            <a:r>
              <a:rPr lang="zh-CN" altLang="en-US" sz="2000" dirty="0"/>
              <a:t>的 </a:t>
            </a:r>
            <a:r>
              <a:rPr lang="en-US" altLang="zh-Hans-MO" dirty="0"/>
              <a:t>Allocation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F3FC0B0-BFA5-0164-1DF1-0D8F5C428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 err="1"/>
              <a:t>Kernmiri</a:t>
            </a:r>
            <a:r>
              <a:rPr lang="en-US" altLang="zh-CN" dirty="0"/>
              <a:t>-</a:t>
            </a:r>
            <a:r>
              <a:rPr lang="zh-CN" altLang="en-US" dirty="0"/>
              <a:t>内存管理模块</a:t>
            </a:r>
            <a:endParaRPr lang="zh-Hans-MO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3E7E8C-BB79-4BD8-C6EF-37D740DEE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321" y="670561"/>
            <a:ext cx="3461548" cy="36330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39B2BD0-1D0A-36AB-BBDA-6D084D5D5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879" b="28919"/>
          <a:stretch>
            <a:fillRect/>
          </a:stretch>
        </p:blipFill>
        <p:spPr>
          <a:xfrm>
            <a:off x="323556" y="4456215"/>
            <a:ext cx="7223707" cy="208526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D57C4C3-F914-A4DA-38E5-72419C7C4701}"/>
              </a:ext>
            </a:extLst>
          </p:cNvPr>
          <p:cNvSpPr txBox="1"/>
          <p:nvPr/>
        </p:nvSpPr>
        <p:spPr>
          <a:xfrm>
            <a:off x="7910918" y="4656835"/>
            <a:ext cx="3831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zh-CN" altLang="en-US" sz="2000" dirty="0"/>
              <a:t>至此，原 </a:t>
            </a:r>
            <a:r>
              <a:rPr lang="en-US" altLang="zh-CN" sz="2000" dirty="0"/>
              <a:t>Miri </a:t>
            </a:r>
            <a:r>
              <a:rPr lang="zh-CN" altLang="en-US" sz="2000" dirty="0"/>
              <a:t>无法操作物理内存的 </a:t>
            </a:r>
            <a:r>
              <a:rPr lang="en-US" altLang="zh-Hans-MO" sz="2000" dirty="0"/>
              <a:t>Allocation</a:t>
            </a:r>
            <a:r>
              <a:rPr lang="zh-CN" altLang="en-US" sz="2000" dirty="0"/>
              <a:t>，现在和 </a:t>
            </a:r>
            <a:r>
              <a:rPr lang="en-US" altLang="zh-Hans-MO" sz="2000" dirty="0"/>
              <a:t>OS </a:t>
            </a:r>
            <a:r>
              <a:rPr lang="zh-CN" altLang="en-US" sz="2000" dirty="0"/>
              <a:t>的頁級內存管理桥接起来了。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938807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BA077-F1B1-29E6-5983-822548263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3A9685B-B85C-ABA4-B249-4B0EE1666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4" y="2138295"/>
            <a:ext cx="5983644" cy="367830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现代的 </a:t>
            </a:r>
            <a:r>
              <a:rPr lang="en-US" altLang="zh-CN" sz="2000" dirty="0"/>
              <a:t>OS </a:t>
            </a:r>
            <a:r>
              <a:rPr lang="zh-CN" altLang="en-US" sz="2000" dirty="0"/>
              <a:t>一般都会有 </a:t>
            </a:r>
            <a:r>
              <a:rPr lang="en-US" altLang="zh-CN" sz="2000" dirty="0"/>
              <a:t>Page Table </a:t>
            </a:r>
            <a:r>
              <a:rPr lang="zh-CN" altLang="en-US" sz="2000" dirty="0"/>
              <a:t>的存在。且在刚启动的时候用汇编设一个临时的启动页表 </a:t>
            </a:r>
            <a:r>
              <a:rPr lang="en-US" altLang="zh-CN" sz="2000" dirty="0"/>
              <a:t>(</a:t>
            </a:r>
            <a:r>
              <a:rPr lang="zh-CN" altLang="en-US" sz="2000" dirty="0"/>
              <a:t>一般是 </a:t>
            </a:r>
            <a:r>
              <a:rPr lang="en-US" altLang="zh-CN" sz="2000" dirty="0"/>
              <a:t>linear mapping)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en-US" altLang="zh-CN" sz="2000" dirty="0" err="1"/>
              <a:t>KernMiri</a:t>
            </a:r>
            <a:r>
              <a:rPr lang="en-US" altLang="zh-CN" sz="2000" dirty="0"/>
              <a:t> </a:t>
            </a:r>
            <a:r>
              <a:rPr lang="zh-CN" altLang="en-US" sz="2000" dirty="0"/>
              <a:t>也对这个进行了模拟，使得其像一个真正的 </a:t>
            </a:r>
            <a:r>
              <a:rPr lang="en-US" altLang="zh-CN" sz="2000" dirty="0"/>
              <a:t>CPU </a:t>
            </a:r>
            <a:r>
              <a:rPr lang="zh-CN" altLang="en-US" sz="2000" dirty="0"/>
              <a:t>用上了 </a:t>
            </a:r>
            <a:r>
              <a:rPr lang="en-US" altLang="zh-CN" sz="2000" dirty="0"/>
              <a:t>MMU </a:t>
            </a:r>
            <a:r>
              <a:rPr lang="zh-CN" altLang="en-US" sz="2000" dirty="0"/>
              <a:t>那样。</a:t>
            </a:r>
            <a:endParaRPr lang="en-US" altLang="zh-CN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CC88736-77DA-4A1C-34FA-A129EB62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 err="1"/>
              <a:t>Kernmiri</a:t>
            </a:r>
            <a:r>
              <a:rPr lang="en-US" altLang="zh-CN" dirty="0"/>
              <a:t>-</a:t>
            </a:r>
            <a:r>
              <a:rPr lang="zh-CN" altLang="en-US" dirty="0"/>
              <a:t>页表</a:t>
            </a:r>
            <a:endParaRPr lang="zh-Hans-MO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AD0C6B-7DAC-D233-0F2A-CB62C70DC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851" y="1406770"/>
            <a:ext cx="3461548" cy="36330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C03EB7-E1D6-6416-D33D-61D1DD4D4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966" y="4037427"/>
            <a:ext cx="3275637" cy="270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875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F86F2-5CE3-A436-9A97-028C42372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144B4AC-55D5-ADA6-ED35-2734EAE9E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4" y="2138296"/>
            <a:ext cx="5983644" cy="668652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OS </a:t>
            </a:r>
            <a:r>
              <a:rPr lang="zh-CN" altLang="en-US" sz="2000" dirty="0"/>
              <a:t>可以使用以下 </a:t>
            </a:r>
            <a:r>
              <a:rPr lang="en-US" altLang="zh-CN" sz="2000" dirty="0"/>
              <a:t>shims </a:t>
            </a:r>
            <a:r>
              <a:rPr lang="zh-CN" altLang="en-US" sz="2000" dirty="0"/>
              <a:t>对页表进行操作。</a:t>
            </a:r>
            <a:endParaRPr lang="en-US" altLang="zh-CN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78DAB8-81A1-9668-1795-BF53CAF77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 err="1"/>
              <a:t>Kernmiri</a:t>
            </a:r>
            <a:r>
              <a:rPr lang="en-US" altLang="zh-CN" dirty="0"/>
              <a:t>-</a:t>
            </a:r>
            <a:r>
              <a:rPr lang="zh-CN" altLang="en-US" dirty="0"/>
              <a:t>页表</a:t>
            </a:r>
            <a:endParaRPr lang="zh-Hans-MO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950F82C-BC21-5EE6-68B7-551EC221B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552" y="3894715"/>
            <a:ext cx="3275637" cy="27093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6F33AF1-3065-0290-A77E-A8565E43D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76" y="2806947"/>
            <a:ext cx="7821637" cy="1244105"/>
          </a:xfrm>
          <a:prstGeom prst="rect">
            <a:avLst/>
          </a:prstGeom>
        </p:spPr>
      </p:pic>
      <p:sp>
        <p:nvSpPr>
          <p:cNvPr id="5" name="内容占位符 1">
            <a:extLst>
              <a:ext uri="{FF2B5EF4-FFF2-40B4-BE49-F238E27FC236}">
                <a16:creationId xmlns:a16="http://schemas.microsoft.com/office/drawing/2014/main" id="{C203E285-17B3-4822-E7C1-B71B5AD07BAC}"/>
              </a:ext>
            </a:extLst>
          </p:cNvPr>
          <p:cNvSpPr txBox="1">
            <a:spLocks/>
          </p:cNvSpPr>
          <p:nvPr/>
        </p:nvSpPr>
        <p:spPr>
          <a:xfrm>
            <a:off x="796984" y="4790055"/>
            <a:ext cx="5983644" cy="66865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/>
              <a:t>此外还有一些保证页安全性的设定和 </a:t>
            </a:r>
            <a:r>
              <a:rPr lang="en-US" altLang="zh-CN" sz="2000" dirty="0"/>
              <a:t>shims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703572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EE507-539B-D684-3DE1-DB6F4A046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32E588E-F779-38E0-278C-DEB6742C8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4" y="2138295"/>
            <a:ext cx="3447470" cy="367830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但 </a:t>
            </a:r>
            <a:r>
              <a:rPr lang="en-US" altLang="zh-CN" sz="2000" dirty="0" err="1"/>
              <a:t>KernMiri</a:t>
            </a:r>
            <a:r>
              <a:rPr lang="en-US" altLang="zh-CN" sz="2000" dirty="0"/>
              <a:t> </a:t>
            </a:r>
            <a:r>
              <a:rPr lang="zh-CN" altLang="en-US" sz="2000" dirty="0"/>
              <a:t>的页表设置当前是 </a:t>
            </a:r>
            <a:r>
              <a:rPr lang="en-US" altLang="zh-CN" sz="2000" dirty="0"/>
              <a:t>fixed </a:t>
            </a:r>
            <a:r>
              <a:rPr lang="zh-CN" altLang="en-US" sz="2000" dirty="0"/>
              <a:t>的。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后续需要考虑为其的 </a:t>
            </a:r>
            <a:r>
              <a:rPr lang="en-US" altLang="zh-CN" sz="2000" dirty="0"/>
              <a:t>config </a:t>
            </a:r>
            <a:r>
              <a:rPr lang="zh-CN" altLang="en-US" sz="2000" dirty="0"/>
              <a:t>或 </a:t>
            </a:r>
            <a:r>
              <a:rPr lang="en-US" altLang="zh-CN" sz="2000" dirty="0"/>
              <a:t>shims </a:t>
            </a:r>
            <a:r>
              <a:rPr lang="zh-CN" altLang="en-US" sz="2000" dirty="0"/>
              <a:t>进行扩展。</a:t>
            </a:r>
            <a:endParaRPr lang="en-US" altLang="zh-CN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6BACC0A-DCF1-BB4C-789C-235100EE5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 err="1"/>
              <a:t>Kernmiri</a:t>
            </a:r>
            <a:r>
              <a:rPr lang="en-US" altLang="zh-CN" dirty="0"/>
              <a:t>-</a:t>
            </a:r>
            <a:r>
              <a:rPr lang="zh-CN" altLang="en-US" dirty="0"/>
              <a:t>页表</a:t>
            </a:r>
            <a:endParaRPr lang="zh-Hans-MO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33BF7E-8716-8F88-651A-C20866232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577" y="942744"/>
            <a:ext cx="7566714" cy="482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745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326D6-6003-F13C-6EFE-A5972BA0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A40FFCB-EBE6-1E2C-B83F-43B7B8180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3" y="2138295"/>
            <a:ext cx="8403287" cy="367830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除了刚刚提到的内存相关的内容，</a:t>
            </a:r>
            <a:r>
              <a:rPr lang="en-US" altLang="zh-CN" sz="2000" dirty="0" err="1"/>
              <a:t>KernMiri</a:t>
            </a:r>
            <a:r>
              <a:rPr lang="en-US" altLang="zh-CN" sz="2000" dirty="0"/>
              <a:t> </a:t>
            </a:r>
            <a:r>
              <a:rPr lang="zh-CN" altLang="en-US" sz="2000" dirty="0"/>
              <a:t>还有以下内容的扩展：</a:t>
            </a:r>
            <a:endParaRPr lang="en-US" altLang="zh-CN" sz="2000" dirty="0"/>
          </a:p>
          <a:p>
            <a:pPr lvl="1"/>
            <a:endParaRPr lang="en-US" altLang="zh-CN" sz="1800" dirty="0"/>
          </a:p>
          <a:p>
            <a:pPr lvl="1"/>
            <a:r>
              <a:rPr lang="en-US" altLang="zh-CN" sz="1800" dirty="0"/>
              <a:t>CPU </a:t>
            </a:r>
            <a:r>
              <a:rPr lang="zh-CN" altLang="en-US" sz="1800" dirty="0"/>
              <a:t>多核模拟</a:t>
            </a:r>
            <a:endParaRPr lang="en-US" altLang="zh-CN" sz="1800" dirty="0"/>
          </a:p>
          <a:p>
            <a:pPr lvl="1"/>
            <a:r>
              <a:rPr lang="en-US" altLang="zh-CN" sz="1800" dirty="0"/>
              <a:t>SMP</a:t>
            </a:r>
          </a:p>
          <a:p>
            <a:pPr lvl="1"/>
            <a:r>
              <a:rPr lang="en-US" altLang="zh-CN" sz="1800" dirty="0"/>
              <a:t>…</a:t>
            </a:r>
          </a:p>
          <a:p>
            <a:pPr lvl="1"/>
            <a:endParaRPr lang="en-US" altLang="zh-CN" sz="18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2FC97E9-6DF3-7F91-E657-240503D3E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 err="1"/>
              <a:t>Kernmiri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4023064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BD176-1B11-0395-7486-A2D65EA2C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F22B18A-2CF3-0E44-A069-6F6DA340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4" y="2180498"/>
            <a:ext cx="6504148" cy="3678303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Miri </a:t>
            </a:r>
            <a:r>
              <a:rPr lang="zh-CN" altLang="en-US" sz="2000" dirty="0"/>
              <a:t>无法理解和检测汇编代码 </a:t>
            </a:r>
            <a:r>
              <a:rPr lang="en-US" altLang="zh-TW" sz="2000" dirty="0"/>
              <a:t>bug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 err="1"/>
              <a:t>KernMiri</a:t>
            </a:r>
            <a:r>
              <a:rPr lang="en-US" altLang="zh-CN" sz="2000" dirty="0"/>
              <a:t> </a:t>
            </a:r>
            <a:r>
              <a:rPr lang="zh-CN" altLang="en-US" sz="2000" dirty="0"/>
              <a:t>并不模拟外设，因此依赖设备交互的测试无法运行</a:t>
            </a:r>
            <a:endParaRPr lang="en-US" altLang="zh-CN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9A7FD63-74AB-A85C-AB5E-03B66CB3D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ans-MO" dirty="0" err="1"/>
              <a:t>Kernmiri</a:t>
            </a:r>
            <a:r>
              <a:rPr lang="en-US" altLang="zh-CN" dirty="0"/>
              <a:t>-</a:t>
            </a:r>
            <a:r>
              <a:rPr lang="zh-CN" altLang="en-US" dirty="0"/>
              <a:t>局限性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2414346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0D63-8FE2-D899-7290-635845C0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6F59C-FF78-D724-5287-E0E2ADFE0B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Axplat-kernmiri</a:t>
            </a:r>
            <a:endParaRPr lang="zh-Hans-MO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4AC19B-A330-2245-66AB-77B674A09F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Hans-MO" dirty="0">
                <a:hlinkClick r:id="rId2"/>
              </a:rPr>
              <a:t>https://github.com/billlosw/axplat_crates</a:t>
            </a:r>
            <a:endParaRPr lang="en-US" altLang="zh-Hans-MO" dirty="0"/>
          </a:p>
          <a:p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427542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2DDA-AC7F-03D8-47F4-9B41CB382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1CC614C-4C09-A61B-F400-0CF0C4ED0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3" y="2034901"/>
            <a:ext cx="8128653" cy="4220302"/>
          </a:xfrm>
        </p:spPr>
        <p:txBody>
          <a:bodyPr>
            <a:normAutofit/>
          </a:bodyPr>
          <a:lstStyle/>
          <a:p>
            <a:r>
              <a:rPr lang="en-US" altLang="zh-CN" sz="2000" dirty="0" err="1"/>
              <a:t>KernMiri</a:t>
            </a:r>
            <a:r>
              <a:rPr lang="en-US" altLang="zh-CN" sz="2000" dirty="0"/>
              <a:t> </a:t>
            </a:r>
            <a:r>
              <a:rPr lang="zh-CN" altLang="en-US" sz="2000" dirty="0"/>
              <a:t>主要就是定义了一个新的 </a:t>
            </a:r>
            <a:r>
              <a:rPr lang="en-US" altLang="zh-CN" sz="2000" dirty="0"/>
              <a:t>architecture </a:t>
            </a:r>
            <a:r>
              <a:rPr lang="en-US" altLang="zh-CN" sz="2000" b="1" dirty="0">
                <a:solidFill>
                  <a:schemeClr val="accent1"/>
                </a:solidFill>
              </a:rPr>
              <a:t>Mitch</a:t>
            </a:r>
            <a:r>
              <a:rPr lang="zh-CN" altLang="en-US" sz="2000" dirty="0"/>
              <a:t> 。</a:t>
            </a:r>
            <a:endParaRPr lang="en-US" altLang="zh-CN" sz="2000" dirty="0"/>
          </a:p>
          <a:p>
            <a:endParaRPr lang="en-US" altLang="zh-CN" sz="2000" b="1" dirty="0">
              <a:solidFill>
                <a:schemeClr val="accent1"/>
              </a:solidFill>
            </a:endParaRPr>
          </a:p>
          <a:p>
            <a:r>
              <a:rPr lang="en-US" altLang="zh-CN" sz="2000" dirty="0" err="1">
                <a:solidFill>
                  <a:schemeClr val="tx1"/>
                </a:solidFill>
              </a:rPr>
              <a:t>ArceOS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之所以能在不同架构上跑起来，是因为有 </a:t>
            </a:r>
            <a:r>
              <a:rPr lang="en-US" altLang="zh-CN" sz="2000" dirty="0" err="1">
                <a:solidFill>
                  <a:schemeClr val="tx1"/>
                </a:solidFill>
              </a:rPr>
              <a:t>axplat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的解耦。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那从理论上来说，只要 </a:t>
            </a:r>
            <a:r>
              <a:rPr lang="en-US" altLang="zh-CN" sz="2000" dirty="0" err="1">
                <a:solidFill>
                  <a:schemeClr val="tx1"/>
                </a:solidFill>
              </a:rPr>
              <a:t>KernMiri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能提供 </a:t>
            </a:r>
            <a:r>
              <a:rPr lang="en-US" altLang="zh-CN" sz="2000" dirty="0" err="1">
                <a:solidFill>
                  <a:schemeClr val="tx1"/>
                </a:solidFill>
              </a:rPr>
              <a:t>axplat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中的接口实现，就可以在那上面运行</a:t>
            </a:r>
            <a:r>
              <a:rPr lang="en-US" altLang="zh-CN" sz="2000" dirty="0" err="1">
                <a:solidFill>
                  <a:schemeClr val="tx1"/>
                </a:solidFill>
              </a:rPr>
              <a:t>ArceOS</a:t>
            </a:r>
            <a:r>
              <a:rPr lang="zh-CN" altLang="en-US" sz="2000" dirty="0">
                <a:solidFill>
                  <a:schemeClr val="tx1"/>
                </a:solidFill>
              </a:rPr>
              <a:t>了。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5E0C755-1058-DCB4-FE1D-94EA2F07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Axplat</a:t>
            </a:r>
            <a:r>
              <a:rPr lang="en-US" altLang="zh-CN" dirty="0"/>
              <a:t>-</a:t>
            </a:r>
            <a:r>
              <a:rPr lang="zh-CN" altLang="en-US" dirty="0"/>
              <a:t>动机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2704794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D44C3-981D-5A02-10EE-5F5A8FD92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3C358CB-9501-F792-A712-A131AD476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3" y="2034901"/>
            <a:ext cx="8128653" cy="4220302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现在是能跑 </a:t>
            </a:r>
            <a:r>
              <a:rPr lang="en-US" altLang="zh-CN" sz="2000" dirty="0"/>
              <a:t>hello-kernel</a:t>
            </a:r>
            <a:r>
              <a:rPr lang="zh-CN" altLang="en-US" sz="2000" dirty="0"/>
              <a:t>。</a:t>
            </a:r>
            <a:r>
              <a:rPr lang="en-US" altLang="zh-CN" sz="2000" dirty="0"/>
              <a:t>(</a:t>
            </a:r>
            <a:r>
              <a:rPr lang="zh-CN" altLang="en-US" sz="2000" dirty="0"/>
              <a:t>虽然好像有</a:t>
            </a:r>
            <a:r>
              <a:rPr lang="en-US" altLang="zh-CN" sz="2000" dirty="0"/>
              <a:t>bug)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8517B8-A710-5B43-F045-046A5C98E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Axplat</a:t>
            </a:r>
            <a:r>
              <a:rPr lang="en-US" altLang="zh-CN" dirty="0"/>
              <a:t>-</a:t>
            </a:r>
            <a:r>
              <a:rPr lang="zh-CN" altLang="en-US" dirty="0"/>
              <a:t>结果</a:t>
            </a:r>
            <a:endParaRPr lang="zh-Hans-MO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9DCD8F8-2798-1B8F-ECAB-17A8BDE12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46" y="3090950"/>
            <a:ext cx="10103893" cy="250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67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B6015-E78E-2FF2-46B8-357E14E0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1A75941-F14C-AE41-DDB7-536A0FC97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3" y="2034901"/>
            <a:ext cx="8128653" cy="4220302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为了验证内存操作的适当，新建了一个 </a:t>
            </a:r>
            <a:r>
              <a:rPr lang="en-US" altLang="zh-CN" sz="2000" dirty="0">
                <a:solidFill>
                  <a:schemeClr val="tx1"/>
                </a:solidFill>
              </a:rPr>
              <a:t>hello-kernel-mem</a:t>
            </a:r>
            <a:r>
              <a:rPr lang="zh-CN" altLang="en-US" sz="2000" dirty="0">
                <a:solidFill>
                  <a:schemeClr val="tx1"/>
                </a:solidFill>
              </a:rPr>
              <a:t>。具体就是用 </a:t>
            </a:r>
            <a:r>
              <a:rPr lang="en-US" altLang="zh-CN" sz="2000" dirty="0">
                <a:solidFill>
                  <a:schemeClr val="tx1"/>
                </a:solidFill>
              </a:rPr>
              <a:t>`</a:t>
            </a:r>
            <a:r>
              <a:rPr lang="en-US" altLang="zh-Hans-MO" dirty="0" err="1"/>
              <a:t>axalloc</a:t>
            </a:r>
            <a:r>
              <a:rPr lang="en-US" altLang="zh-Hans-MO" dirty="0"/>
              <a:t>::</a:t>
            </a:r>
            <a:r>
              <a:rPr lang="en-US" altLang="zh-Hans-MO" dirty="0" err="1"/>
              <a:t>global_init</a:t>
            </a:r>
            <a:r>
              <a:rPr lang="en-US" altLang="zh-CN" dirty="0"/>
              <a:t>`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初始化后，对堆进行操作 </a:t>
            </a:r>
            <a:r>
              <a:rPr lang="en-US" altLang="zh-CN" sz="2000" dirty="0">
                <a:solidFill>
                  <a:schemeClr val="tx1"/>
                </a:solidFill>
              </a:rPr>
              <a:t>(Box, Vec)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在 </a:t>
            </a:r>
            <a:r>
              <a:rPr lang="en-US" altLang="zh-CN" sz="2000" dirty="0">
                <a:solidFill>
                  <a:schemeClr val="tx1"/>
                </a:solidFill>
              </a:rPr>
              <a:t>riscv64 </a:t>
            </a:r>
            <a:r>
              <a:rPr lang="zh-CN" altLang="en-US" sz="2000" dirty="0">
                <a:solidFill>
                  <a:schemeClr val="tx1"/>
                </a:solidFill>
              </a:rPr>
              <a:t>和 </a:t>
            </a:r>
            <a:r>
              <a:rPr lang="en-US" altLang="zh-CN" sz="2000" dirty="0">
                <a:solidFill>
                  <a:schemeClr val="tx1"/>
                </a:solidFill>
              </a:rPr>
              <a:t>x86-64 </a:t>
            </a:r>
            <a:r>
              <a:rPr lang="zh-CN" altLang="en-US" sz="2000" dirty="0">
                <a:solidFill>
                  <a:schemeClr val="tx1"/>
                </a:solidFill>
              </a:rPr>
              <a:t>上能通过测试。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但要在 </a:t>
            </a:r>
            <a:r>
              <a:rPr lang="en-US" altLang="zh-CN" sz="2000" dirty="0" err="1">
                <a:solidFill>
                  <a:schemeClr val="tx1"/>
                </a:solidFill>
              </a:rPr>
              <a:t>KernMiri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上完整跑起来还需要点时间去尝试。因为过程中遇到了很多的问题。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Hans-MO" sz="2000" dirty="0">
              <a:solidFill>
                <a:schemeClr val="tx1"/>
              </a:solidFill>
            </a:endParaRPr>
          </a:p>
          <a:p>
            <a:endParaRPr lang="en-US" altLang="zh-Hans-MO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67435F6-AB0F-7EA5-9FFB-8595174C5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Axplat</a:t>
            </a:r>
            <a:r>
              <a:rPr lang="en-US" altLang="zh-CN" dirty="0"/>
              <a:t>-</a:t>
            </a:r>
            <a:r>
              <a:rPr lang="zh-CN" altLang="en-US" dirty="0"/>
              <a:t>结果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1145965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B239D-7650-9B79-DF73-D771C2968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3961153-33B9-6E0F-4D63-BB237B94D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3" y="2034901"/>
            <a:ext cx="8128653" cy="4220302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参考了</a:t>
            </a:r>
            <a:r>
              <a:rPr lang="en-US" altLang="zh-CN" sz="2000" dirty="0">
                <a:solidFill>
                  <a:schemeClr val="tx1"/>
                </a:solidFill>
              </a:rPr>
              <a:t>`</a:t>
            </a:r>
            <a:r>
              <a:rPr lang="en-US" altLang="zh-CN" sz="2000" dirty="0" err="1">
                <a:solidFill>
                  <a:schemeClr val="tx1"/>
                </a:solidFill>
              </a:rPr>
              <a:t>miri_asterinas</a:t>
            </a:r>
            <a:r>
              <a:rPr lang="en-US" altLang="zh-CN" sz="2000" dirty="0">
                <a:solidFill>
                  <a:schemeClr val="tx1"/>
                </a:solidFill>
              </a:rPr>
              <a:t>/</a:t>
            </a:r>
            <a:r>
              <a:rPr lang="en-US" altLang="zh-CN" sz="2000" dirty="0" err="1">
                <a:solidFill>
                  <a:schemeClr val="tx1"/>
                </a:solidFill>
              </a:rPr>
              <a:t>ostd</a:t>
            </a:r>
            <a:r>
              <a:rPr lang="en-US" altLang="zh-CN" sz="2000" dirty="0">
                <a:solidFill>
                  <a:schemeClr val="tx1"/>
                </a:solidFill>
              </a:rPr>
              <a:t>/</a:t>
            </a:r>
            <a:r>
              <a:rPr lang="en-US" altLang="zh-CN" sz="2000" dirty="0" err="1">
                <a:solidFill>
                  <a:schemeClr val="tx1"/>
                </a:solidFill>
              </a:rPr>
              <a:t>src</a:t>
            </a:r>
            <a:r>
              <a:rPr lang="en-US" altLang="zh-CN" sz="2000" dirty="0">
                <a:solidFill>
                  <a:schemeClr val="tx1"/>
                </a:solidFill>
              </a:rPr>
              <a:t>/mm/</a:t>
            </a:r>
            <a:r>
              <a:rPr lang="en-US" altLang="zh-CN" sz="2000" dirty="0" err="1">
                <a:solidFill>
                  <a:schemeClr val="tx1"/>
                </a:solidFill>
              </a:rPr>
              <a:t>kspace</a:t>
            </a:r>
            <a:r>
              <a:rPr lang="en-US" altLang="zh-CN" sz="2000" dirty="0">
                <a:solidFill>
                  <a:schemeClr val="tx1"/>
                </a:solidFill>
              </a:rPr>
              <a:t>/mod.rs` </a:t>
            </a:r>
            <a:r>
              <a:rPr lang="zh-CN" altLang="en-US" sz="2000" dirty="0">
                <a:solidFill>
                  <a:schemeClr val="tx1"/>
                </a:solidFill>
              </a:rPr>
              <a:t>和 </a:t>
            </a:r>
            <a:r>
              <a:rPr lang="en-US" altLang="zh-CN" sz="2000" dirty="0" err="1">
                <a:solidFill>
                  <a:schemeClr val="tx1"/>
                </a:solidFill>
              </a:rPr>
              <a:t>KernMiri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中的内存布局，大致有了一版简易的 </a:t>
            </a:r>
            <a:r>
              <a:rPr lang="en-US" altLang="zh-CN" sz="2000" dirty="0">
                <a:solidFill>
                  <a:schemeClr val="tx1"/>
                </a:solidFill>
              </a:rPr>
              <a:t>config</a:t>
            </a:r>
            <a:r>
              <a:rPr lang="zh-CN" altLang="en-US" sz="2000" dirty="0">
                <a:solidFill>
                  <a:schemeClr val="tx1"/>
                </a:solidFill>
              </a:rPr>
              <a:t>。 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但目前我个人感觉设置的这个 </a:t>
            </a:r>
            <a:r>
              <a:rPr lang="en-US" altLang="zh-CN" sz="2000" dirty="0">
                <a:solidFill>
                  <a:schemeClr val="tx1"/>
                </a:solidFill>
              </a:rPr>
              <a:t>config </a:t>
            </a:r>
            <a:r>
              <a:rPr lang="zh-CN" altLang="en-US" sz="2000" dirty="0">
                <a:solidFill>
                  <a:schemeClr val="tx1"/>
                </a:solidFill>
              </a:rPr>
              <a:t>有点歧义。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066EF9D-F585-9B2D-ED63-3B336C8B8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Axplat</a:t>
            </a:r>
            <a:r>
              <a:rPr lang="en-US" altLang="zh-CN" dirty="0"/>
              <a:t>-config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899949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C4E33-D98C-AFEB-2BF4-A4FB15021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EEE935D-6E8A-60BA-12C2-4289175C7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3" y="2034901"/>
            <a:ext cx="5330861" cy="4220302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主要就是为他们找到对应的 </a:t>
            </a:r>
            <a:r>
              <a:rPr lang="en-US" altLang="zh-CN" sz="2000" dirty="0">
                <a:solidFill>
                  <a:schemeClr val="tx1"/>
                </a:solidFill>
              </a:rPr>
              <a:t>shims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  <a:r>
              <a:rPr lang="en-US" altLang="zh-CN" sz="2000" dirty="0">
                <a:solidFill>
                  <a:schemeClr val="tx1"/>
                </a:solidFill>
              </a:rPr>
              <a:t>Console</a:t>
            </a:r>
            <a:r>
              <a:rPr lang="zh-CN" altLang="en-US" sz="2000" dirty="0">
                <a:solidFill>
                  <a:schemeClr val="tx1"/>
                </a:solidFill>
              </a:rPr>
              <a:t>那个就是直接 </a:t>
            </a:r>
            <a:r>
              <a:rPr lang="en-US" altLang="zh-CN" sz="2000" dirty="0">
                <a:solidFill>
                  <a:schemeClr val="tx1"/>
                </a:solidFill>
              </a:rPr>
              <a:t>miri </a:t>
            </a:r>
            <a:r>
              <a:rPr lang="zh-CN" altLang="en-US" sz="2000" dirty="0">
                <a:solidFill>
                  <a:schemeClr val="tx1"/>
                </a:solidFill>
              </a:rPr>
              <a:t>内直接用 </a:t>
            </a:r>
            <a:r>
              <a:rPr lang="en-US" altLang="zh-CN" sz="2000" dirty="0">
                <a:solidFill>
                  <a:schemeClr val="tx1"/>
                </a:solidFill>
              </a:rPr>
              <a:t>std </a:t>
            </a:r>
            <a:r>
              <a:rPr lang="zh-CN" altLang="en-US" sz="2000" dirty="0">
                <a:solidFill>
                  <a:schemeClr val="tx1"/>
                </a:solidFill>
              </a:rPr>
              <a:t>的。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Timer </a:t>
            </a:r>
            <a:r>
              <a:rPr lang="zh-CN" altLang="en-US" sz="2000" dirty="0">
                <a:solidFill>
                  <a:schemeClr val="tx1"/>
                </a:solidFill>
              </a:rPr>
              <a:t>那个是原本没有的，因此我在 </a:t>
            </a:r>
            <a:r>
              <a:rPr lang="en-US" altLang="zh-CN" sz="2000" dirty="0" err="1">
                <a:solidFill>
                  <a:schemeClr val="tx1"/>
                </a:solidFill>
              </a:rPr>
              <a:t>KernMiri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里面实现了一个简易的返回 </a:t>
            </a:r>
            <a:r>
              <a:rPr lang="en-US" altLang="zh-CN" sz="2000" dirty="0">
                <a:solidFill>
                  <a:schemeClr val="tx1"/>
                </a:solidFill>
              </a:rPr>
              <a:t>tick </a:t>
            </a:r>
            <a:r>
              <a:rPr lang="zh-CN" altLang="en-US" sz="2000" dirty="0">
                <a:solidFill>
                  <a:schemeClr val="tx1"/>
                </a:solidFill>
              </a:rPr>
              <a:t>的</a:t>
            </a:r>
            <a:r>
              <a:rPr lang="en-US" altLang="zh-CN" sz="2000" dirty="0">
                <a:solidFill>
                  <a:schemeClr val="tx1"/>
                </a:solidFill>
              </a:rPr>
              <a:t>shims</a:t>
            </a:r>
            <a:r>
              <a:rPr lang="zh-CN" altLang="en-US" sz="2000" dirty="0">
                <a:solidFill>
                  <a:schemeClr val="tx1"/>
                </a:solidFill>
              </a:rPr>
              <a:t>。不过似乎有点 </a:t>
            </a:r>
            <a:r>
              <a:rPr lang="en-US" altLang="zh-CN" sz="2000" dirty="0">
                <a:solidFill>
                  <a:schemeClr val="tx1"/>
                </a:solidFill>
              </a:rPr>
              <a:t>bug</a:t>
            </a:r>
            <a:r>
              <a:rPr lang="zh-CN" altLang="en-US" sz="2000" dirty="0">
                <a:solidFill>
                  <a:schemeClr val="tx1"/>
                </a:solidFill>
              </a:rPr>
              <a:t>，不确定问题在哪，但最起码能跑起来。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Timer </a:t>
            </a:r>
            <a:r>
              <a:rPr lang="zh-CN" altLang="en-US" sz="2000" dirty="0">
                <a:solidFill>
                  <a:schemeClr val="tx1"/>
                </a:solidFill>
              </a:rPr>
              <a:t>这个问题可能需要后续观察星绽那边是怎么做的才能更好地解决。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C71490E-9AEF-5146-A35B-E1B52637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Axplat</a:t>
            </a:r>
            <a:r>
              <a:rPr lang="en-US" altLang="zh-CN" dirty="0"/>
              <a:t>-console/timer</a:t>
            </a:r>
            <a:endParaRPr lang="zh-Hans-MO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5F8036-C6BA-2B77-7220-B379555A4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66" y="602797"/>
            <a:ext cx="4661051" cy="30626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46CDEFF-48E4-B6C3-D0E0-CBE804E9B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553" y="4096052"/>
            <a:ext cx="5782715" cy="248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03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172B-E4D7-5B38-AABA-DE34B27F8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D1C54E7-048F-42A8-A7E0-47EA91EB3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3" y="2034901"/>
            <a:ext cx="8128653" cy="4220302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这里面就是重灾区了。因为 </a:t>
            </a:r>
            <a:r>
              <a:rPr lang="en-US" altLang="zh-CN" sz="2000" dirty="0" err="1">
                <a:solidFill>
                  <a:schemeClr val="tx1"/>
                </a:solidFill>
              </a:rPr>
              <a:t>axplat</a:t>
            </a:r>
            <a:r>
              <a:rPr lang="en-US" altLang="zh-CN" sz="2000" dirty="0">
                <a:solidFill>
                  <a:schemeClr val="tx1"/>
                </a:solidFill>
              </a:rPr>
              <a:t>-mem </a:t>
            </a:r>
            <a:r>
              <a:rPr lang="zh-CN" altLang="en-US" sz="2000" dirty="0">
                <a:solidFill>
                  <a:schemeClr val="tx1"/>
                </a:solidFill>
              </a:rPr>
              <a:t>模块本质上只是负责划分 </a:t>
            </a:r>
            <a:r>
              <a:rPr lang="en-US" altLang="zh-CN" sz="2000" dirty="0">
                <a:solidFill>
                  <a:schemeClr val="tx1"/>
                </a:solidFill>
              </a:rPr>
              <a:t>mem </a:t>
            </a:r>
            <a:r>
              <a:rPr lang="zh-CN" altLang="en-US" sz="2000" dirty="0">
                <a:solidFill>
                  <a:schemeClr val="tx1"/>
                </a:solidFill>
              </a:rPr>
              <a:t>范围。所以要修改的地方并不在这。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而是需要跑到 </a:t>
            </a:r>
            <a:r>
              <a:rPr lang="en-US" altLang="zh-CN" sz="2000" dirty="0" err="1">
                <a:solidFill>
                  <a:schemeClr val="tx1"/>
                </a:solidFill>
              </a:rPr>
              <a:t>axalloc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里面去找他里面操作内存的部分进行 </a:t>
            </a:r>
            <a:r>
              <a:rPr lang="en-US" altLang="zh-CN" sz="2000" dirty="0">
                <a:solidFill>
                  <a:schemeClr val="tx1"/>
                </a:solidFill>
              </a:rPr>
              <a:t>shims </a:t>
            </a:r>
            <a:r>
              <a:rPr lang="zh-CN" altLang="en-US" sz="2000" dirty="0">
                <a:solidFill>
                  <a:schemeClr val="tx1"/>
                </a:solidFill>
              </a:rPr>
              <a:t>的替换。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DF4D7C8-51BF-7CF3-A7CE-4047E12A6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Axplat</a:t>
            </a:r>
            <a:r>
              <a:rPr lang="en-US" altLang="zh-CN" dirty="0"/>
              <a:t>-MEM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22031131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E4EA7-2505-8755-1F90-BAABE217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DFE6757-6A3E-58C9-A817-578703B9A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815" y="1993957"/>
            <a:ext cx="5189835" cy="712848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首先需要解决其用到了 </a:t>
            </a:r>
            <a:r>
              <a:rPr lang="en-US" altLang="zh-CN" sz="2000" dirty="0" err="1">
                <a:solidFill>
                  <a:schemeClr val="tx1"/>
                </a:solidFill>
              </a:rPr>
              <a:t>SpinNoIrq</a:t>
            </a:r>
            <a:r>
              <a:rPr lang="zh-CN" altLang="en-US" sz="2000" dirty="0">
                <a:solidFill>
                  <a:schemeClr val="tx1"/>
                </a:solidFill>
              </a:rPr>
              <a:t> 的问题。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3B4F7A2-37A4-6AFD-046E-902CE3E6F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Axplat</a:t>
            </a:r>
            <a:r>
              <a:rPr lang="en-US" altLang="zh-CN" dirty="0"/>
              <a:t>-MEM-</a:t>
            </a:r>
            <a:r>
              <a:rPr lang="en-US" altLang="zh-CN" dirty="0" err="1"/>
              <a:t>axalloc</a:t>
            </a:r>
            <a:endParaRPr lang="zh-Hans-MO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4AD6F4-EF01-9279-FBFC-86B5746B8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212" y="1405543"/>
            <a:ext cx="6061663" cy="11204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7F06418-D1B1-DBFD-8C23-81D59A805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86" y="2756622"/>
            <a:ext cx="10654851" cy="1015200"/>
          </a:xfrm>
          <a:prstGeom prst="rect">
            <a:avLst/>
          </a:prstGeom>
        </p:spPr>
      </p:pic>
      <p:sp>
        <p:nvSpPr>
          <p:cNvPr id="8" name="内容占位符 1">
            <a:extLst>
              <a:ext uri="{FF2B5EF4-FFF2-40B4-BE49-F238E27FC236}">
                <a16:creationId xmlns:a16="http://schemas.microsoft.com/office/drawing/2014/main" id="{4EE84B3D-71AB-AB85-27BE-84ECAB7ACFE3}"/>
              </a:ext>
            </a:extLst>
          </p:cNvPr>
          <p:cNvSpPr txBox="1">
            <a:spLocks/>
          </p:cNvSpPr>
          <p:nvPr/>
        </p:nvSpPr>
        <p:spPr>
          <a:xfrm>
            <a:off x="251329" y="4078900"/>
            <a:ext cx="11758700" cy="25302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 err="1">
                <a:solidFill>
                  <a:schemeClr val="tx1"/>
                </a:solidFill>
              </a:rPr>
              <a:t>kspin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里面似乎是根据不同的架构调用了他们对应的汇编指令的，这个 </a:t>
            </a:r>
            <a:r>
              <a:rPr lang="en-US" altLang="zh-CN" sz="2000" dirty="0" err="1">
                <a:solidFill>
                  <a:schemeClr val="tx1"/>
                </a:solidFill>
              </a:rPr>
              <a:t>KernMiri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无法解释执行。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当前我的做法是从星绽那边把他们的 </a:t>
            </a:r>
            <a:r>
              <a:rPr lang="en-US" altLang="zh-CN" sz="2000" dirty="0" err="1">
                <a:solidFill>
                  <a:schemeClr val="tx1"/>
                </a:solidFill>
              </a:rPr>
              <a:t>SpinLock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给粗暴且丑陋地嫁接过来了。好歹能跑过这个</a:t>
            </a:r>
            <a:r>
              <a:rPr lang="en-US" altLang="zh-CN" sz="2000" dirty="0">
                <a:solidFill>
                  <a:schemeClr val="tx1"/>
                </a:solidFill>
              </a:rPr>
              <a:t>lock</a:t>
            </a:r>
            <a:r>
              <a:rPr lang="zh-CN" altLang="en-US" sz="2000" dirty="0">
                <a:solidFill>
                  <a:schemeClr val="tx1"/>
                </a:solidFill>
              </a:rPr>
              <a:t>的</a:t>
            </a:r>
            <a:r>
              <a:rPr lang="en-US" altLang="zh-CN" sz="2000" dirty="0" err="1">
                <a:solidFill>
                  <a:schemeClr val="tx1"/>
                </a:solidFill>
              </a:rPr>
              <a:t>init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我理解是他们那边是用的</a:t>
            </a:r>
            <a:r>
              <a:rPr lang="en-US" altLang="zh-CN" sz="2000" dirty="0">
                <a:solidFill>
                  <a:schemeClr val="tx1"/>
                </a:solidFill>
              </a:rPr>
              <a:t>`core::sync::atomic::</a:t>
            </a:r>
            <a:r>
              <a:rPr lang="en-US" altLang="zh-CN" sz="2000" dirty="0" err="1">
                <a:solidFill>
                  <a:schemeClr val="tx1"/>
                </a:solidFill>
              </a:rPr>
              <a:t>AtomicBool</a:t>
            </a:r>
            <a:r>
              <a:rPr lang="en-US" altLang="zh-CN" sz="2000" dirty="0">
                <a:solidFill>
                  <a:schemeClr val="tx1"/>
                </a:solidFill>
              </a:rPr>
              <a:t> pub </a:t>
            </a:r>
            <a:r>
              <a:rPr lang="en-US" altLang="zh-CN" sz="2000" dirty="0" err="1">
                <a:solidFill>
                  <a:schemeClr val="tx1"/>
                </a:solidFill>
              </a:rPr>
              <a:t>fn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</a:rPr>
              <a:t>compare_exchange</a:t>
            </a:r>
            <a:r>
              <a:rPr lang="en-US" altLang="zh-CN" sz="2000" dirty="0">
                <a:solidFill>
                  <a:schemeClr val="tx1"/>
                </a:solidFill>
              </a:rPr>
              <a:t>`</a:t>
            </a:r>
            <a:r>
              <a:rPr lang="zh-CN" altLang="en-US" sz="2000" dirty="0">
                <a:solidFill>
                  <a:schemeClr val="tx1"/>
                </a:solidFill>
              </a:rPr>
              <a:t>，是</a:t>
            </a:r>
            <a:r>
              <a:rPr lang="en-US" altLang="zh-CN" sz="2000" dirty="0">
                <a:solidFill>
                  <a:schemeClr val="tx1"/>
                </a:solidFill>
              </a:rPr>
              <a:t>rust</a:t>
            </a:r>
            <a:r>
              <a:rPr lang="zh-CN" altLang="en-US" sz="2000" dirty="0">
                <a:solidFill>
                  <a:schemeClr val="tx1"/>
                </a:solidFill>
              </a:rPr>
              <a:t>的代码，所以 </a:t>
            </a:r>
            <a:r>
              <a:rPr lang="en-US" altLang="zh-CN" sz="2000" dirty="0">
                <a:solidFill>
                  <a:schemeClr val="tx1"/>
                </a:solidFill>
              </a:rPr>
              <a:t>Miri </a:t>
            </a:r>
            <a:r>
              <a:rPr lang="zh-CN" altLang="en-US" sz="2000" dirty="0">
                <a:solidFill>
                  <a:schemeClr val="tx1"/>
                </a:solidFill>
              </a:rPr>
              <a:t>是能正常解释执行的。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424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0F4E8-6DFA-F504-220E-1ADD91CE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6DD1630-A1CD-38A3-D175-6FAD5D643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3" y="1875677"/>
            <a:ext cx="8128653" cy="4220302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把 </a:t>
            </a:r>
            <a:r>
              <a:rPr lang="en-US" altLang="zh-CN" sz="2000" dirty="0">
                <a:solidFill>
                  <a:schemeClr val="tx1"/>
                </a:solidFill>
              </a:rPr>
              <a:t>Lock </a:t>
            </a:r>
            <a:r>
              <a:rPr lang="zh-CN" altLang="en-US" sz="2000" dirty="0">
                <a:solidFill>
                  <a:schemeClr val="tx1"/>
                </a:solidFill>
              </a:rPr>
              <a:t>的问题解决后，运行就卡在了 </a:t>
            </a:r>
            <a:r>
              <a:rPr lang="en-US" altLang="zh-CN" sz="2000" dirty="0" err="1">
                <a:solidFill>
                  <a:schemeClr val="tx1"/>
                </a:solidFill>
              </a:rPr>
              <a:t>axalloc</a:t>
            </a:r>
            <a:r>
              <a:rPr lang="en-US" altLang="zh-CN" sz="2000" dirty="0">
                <a:solidFill>
                  <a:schemeClr val="tx1"/>
                </a:solidFill>
              </a:rPr>
              <a:t>::</a:t>
            </a:r>
            <a:r>
              <a:rPr lang="en-US" altLang="zh-CN" sz="2000" dirty="0" err="1">
                <a:solidFill>
                  <a:schemeClr val="tx1"/>
                </a:solidFill>
              </a:rPr>
              <a:t>init</a:t>
            </a:r>
            <a:r>
              <a:rPr lang="en-US" altLang="zh-CN" sz="2000" dirty="0">
                <a:solidFill>
                  <a:schemeClr val="tx1"/>
                </a:solidFill>
              </a:rPr>
              <a:t>() </a:t>
            </a:r>
            <a:r>
              <a:rPr lang="zh-CN" altLang="en-US" sz="2000" dirty="0">
                <a:solidFill>
                  <a:schemeClr val="tx1"/>
                </a:solidFill>
              </a:rPr>
              <a:t>最后那行中：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AD81CBC-F5BB-381B-A9B4-880B8E5D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Axplat</a:t>
            </a:r>
            <a:r>
              <a:rPr lang="en-US" altLang="zh-CN" dirty="0"/>
              <a:t>-MEM-</a:t>
            </a:r>
            <a:r>
              <a:rPr lang="en-US" altLang="zh-CN" dirty="0" err="1"/>
              <a:t>axalloc</a:t>
            </a:r>
            <a:endParaRPr lang="zh-Hans-MO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F5BC2A-7450-F4F2-FBD6-B79839CA4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563" y="2769358"/>
            <a:ext cx="6489537" cy="3049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295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E571-38D7-8C92-6EDB-557049613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779E644-EF3E-364E-DCB5-87140737E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07" y="1889591"/>
            <a:ext cx="6518216" cy="489935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solidFill>
                  <a:schemeClr val="tx1"/>
                </a:solidFill>
              </a:rPr>
              <a:t>`</a:t>
            </a:r>
            <a:r>
              <a:rPr lang="en-US" altLang="zh-CN" sz="2000" dirty="0" err="1">
                <a:solidFill>
                  <a:schemeClr val="tx1"/>
                </a:solidFill>
              </a:rPr>
              <a:t>palloc.init</a:t>
            </a:r>
            <a:r>
              <a:rPr lang="en-US" altLang="zh-CN" sz="2000" dirty="0">
                <a:solidFill>
                  <a:schemeClr val="tx1"/>
                </a:solidFill>
              </a:rPr>
              <a:t>()` </a:t>
            </a:r>
            <a:r>
              <a:rPr lang="zh-CN" altLang="en-US" sz="2000" dirty="0">
                <a:solidFill>
                  <a:schemeClr val="tx1"/>
                </a:solidFill>
              </a:rPr>
              <a:t>是没有问题的，</a:t>
            </a:r>
            <a:r>
              <a:rPr lang="en-US" altLang="zh-CN" sz="2000" dirty="0">
                <a:solidFill>
                  <a:schemeClr val="tx1"/>
                </a:solidFill>
              </a:rPr>
              <a:t>`</a:t>
            </a:r>
            <a:r>
              <a:rPr lang="en-US" altLang="zh-CN" sz="2000" dirty="0" err="1">
                <a:solidFill>
                  <a:schemeClr val="tx1"/>
                </a:solidFill>
              </a:rPr>
              <a:t>self.alloc_pages</a:t>
            </a:r>
            <a:r>
              <a:rPr lang="en-US" altLang="zh-CN" sz="2000" dirty="0">
                <a:solidFill>
                  <a:schemeClr val="tx1"/>
                </a:solidFill>
              </a:rPr>
              <a:t>` </a:t>
            </a:r>
            <a:r>
              <a:rPr lang="zh-CN" altLang="en-US" sz="2000" dirty="0">
                <a:solidFill>
                  <a:schemeClr val="tx1"/>
                </a:solidFill>
              </a:rPr>
              <a:t>也没报错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70810F7-FDDC-65E1-8AAA-8B2E12897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Axplat</a:t>
            </a:r>
            <a:r>
              <a:rPr lang="en-US" altLang="zh-CN" dirty="0"/>
              <a:t>-MEM-</a:t>
            </a:r>
            <a:r>
              <a:rPr lang="en-US" altLang="zh-CN" dirty="0" err="1"/>
              <a:t>axalloc</a:t>
            </a:r>
            <a:endParaRPr lang="zh-Hans-MO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706DAF-5E96-60E2-7F0F-8F5C87DB4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198" y="2505617"/>
            <a:ext cx="5785596" cy="2718389"/>
          </a:xfrm>
          <a:prstGeom prst="rect">
            <a:avLst/>
          </a:prstGeom>
        </p:spPr>
      </p:pic>
      <p:sp>
        <p:nvSpPr>
          <p:cNvPr id="4" name="内容占位符 1">
            <a:extLst>
              <a:ext uri="{FF2B5EF4-FFF2-40B4-BE49-F238E27FC236}">
                <a16:creationId xmlns:a16="http://schemas.microsoft.com/office/drawing/2014/main" id="{2241C4EB-6F8F-A9FD-C469-8CD17789A31B}"/>
              </a:ext>
            </a:extLst>
          </p:cNvPr>
          <p:cNvSpPr txBox="1">
            <a:spLocks/>
          </p:cNvSpPr>
          <p:nvPr/>
        </p:nvSpPr>
        <p:spPr>
          <a:xfrm>
            <a:off x="627682" y="5354099"/>
            <a:ext cx="9402442" cy="6040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5992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84" indent="-305992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978" indent="-269993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1969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1960" indent="-2339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53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99945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38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930" indent="-228594" algn="l" defTabSz="457189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zh-CN" altLang="en-US" sz="2000" dirty="0">
                <a:solidFill>
                  <a:schemeClr val="tx1"/>
                </a:solidFill>
              </a:rPr>
              <a:t>但他似乎只是返回了对应地址，并没能成功和 </a:t>
            </a:r>
            <a:r>
              <a:rPr lang="en-US" altLang="zh-CN" sz="2000" dirty="0" err="1">
                <a:solidFill>
                  <a:schemeClr val="tx1"/>
                </a:solidFill>
              </a:rPr>
              <a:t>KernMiri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说他需要拿这页？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350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1522F-43AB-997C-8086-C8C0EDB8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571757C-6415-91B9-641F-7854394C8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06" y="2015682"/>
            <a:ext cx="5094300" cy="3529858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现在就是在 </a:t>
            </a:r>
            <a:r>
              <a:rPr lang="en-US" altLang="zh-CN" sz="2000" dirty="0" err="1">
                <a:solidFill>
                  <a:schemeClr val="tx1"/>
                </a:solidFill>
              </a:rPr>
              <a:t>init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过程中有一个 </a:t>
            </a:r>
            <a:r>
              <a:rPr lang="en-US" altLang="zh-CN" sz="2000" dirty="0">
                <a:solidFill>
                  <a:schemeClr val="tx1"/>
                </a:solidFill>
              </a:rPr>
              <a:t>read/write pointer </a:t>
            </a:r>
            <a:r>
              <a:rPr lang="zh-CN" altLang="en-US" sz="2000" dirty="0">
                <a:solidFill>
                  <a:schemeClr val="tx1"/>
                </a:solidFill>
              </a:rPr>
              <a:t>的操作，但似乎我漏了调用某 </a:t>
            </a:r>
            <a:r>
              <a:rPr lang="en-US" altLang="zh-CN" sz="2000" dirty="0">
                <a:solidFill>
                  <a:schemeClr val="tx1"/>
                </a:solidFill>
              </a:rPr>
              <a:t>shims </a:t>
            </a:r>
            <a:r>
              <a:rPr lang="zh-CN" altLang="en-US" sz="2000" dirty="0">
                <a:solidFill>
                  <a:schemeClr val="tx1"/>
                </a:solidFill>
              </a:rPr>
              <a:t>所以 </a:t>
            </a:r>
            <a:r>
              <a:rPr lang="en-US" altLang="zh-CN" sz="2000" dirty="0">
                <a:solidFill>
                  <a:schemeClr val="tx1"/>
                </a:solidFill>
              </a:rPr>
              <a:t>Miri </a:t>
            </a:r>
            <a:r>
              <a:rPr lang="zh-CN" altLang="en-US" sz="2000" dirty="0">
                <a:solidFill>
                  <a:schemeClr val="tx1"/>
                </a:solidFill>
              </a:rPr>
              <a:t>认为那是一个悬空指针？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除了这个悬空指针的 </a:t>
            </a:r>
            <a:r>
              <a:rPr lang="en-US" altLang="zh-CN" sz="2000" dirty="0">
                <a:solidFill>
                  <a:schemeClr val="tx1"/>
                </a:solidFill>
              </a:rPr>
              <a:t>UB </a:t>
            </a:r>
            <a:r>
              <a:rPr lang="zh-CN" altLang="en-US" sz="2000" dirty="0">
                <a:solidFill>
                  <a:schemeClr val="tx1"/>
                </a:solidFill>
              </a:rPr>
              <a:t>外，还有一次是操作的大小不对</a:t>
            </a:r>
            <a:r>
              <a:rPr lang="en-US" altLang="zh-CN" sz="2000" dirty="0">
                <a:solidFill>
                  <a:schemeClr val="tx1"/>
                </a:solidFill>
              </a:rPr>
              <a:t>…</a:t>
            </a:r>
            <a:r>
              <a:rPr lang="zh-CN" altLang="en-US" sz="2000" dirty="0">
                <a:solidFill>
                  <a:schemeClr val="tx1"/>
                </a:solidFill>
              </a:rPr>
              <a:t>但这些 </a:t>
            </a:r>
            <a:r>
              <a:rPr lang="en-US" altLang="zh-CN" sz="2000" dirty="0">
                <a:solidFill>
                  <a:schemeClr val="tx1"/>
                </a:solidFill>
              </a:rPr>
              <a:t>UB </a:t>
            </a:r>
            <a:r>
              <a:rPr lang="zh-CN" altLang="en-US" sz="2000" dirty="0">
                <a:solidFill>
                  <a:schemeClr val="tx1"/>
                </a:solidFill>
              </a:rPr>
              <a:t>是不应该出现的。这是我的操作问题。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2B37017-6F37-95C0-3B0E-8FC840174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Axplat</a:t>
            </a:r>
            <a:r>
              <a:rPr lang="en-US" altLang="zh-CN" dirty="0"/>
              <a:t>-MEM-</a:t>
            </a:r>
            <a:r>
              <a:rPr lang="en-US" altLang="zh-CN" dirty="0" err="1"/>
              <a:t>axalloc</a:t>
            </a:r>
            <a:endParaRPr lang="zh-Hans-MO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DE369A7-0144-C06C-ED6C-A40F7DB63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806" y="1170646"/>
            <a:ext cx="6256693" cy="364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20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8E86-5BE4-0040-177D-C2D28C26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D06E5D9-C532-DE08-5416-A0817417E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06" y="2015682"/>
            <a:ext cx="5543346" cy="3529858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但我看星绽那边用 </a:t>
            </a:r>
            <a:r>
              <a:rPr lang="en-US" altLang="zh-CN" sz="2000" dirty="0">
                <a:solidFill>
                  <a:schemeClr val="tx1"/>
                </a:solidFill>
              </a:rPr>
              <a:t>(de)</a:t>
            </a:r>
            <a:r>
              <a:rPr lang="en-US" altLang="zh-CN" sz="2000" dirty="0" err="1">
                <a:solidFill>
                  <a:schemeClr val="tx1"/>
                </a:solidFill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相关的 </a:t>
            </a:r>
            <a:r>
              <a:rPr lang="en-US" altLang="zh-CN" sz="2000" dirty="0">
                <a:solidFill>
                  <a:schemeClr val="tx1"/>
                </a:solidFill>
              </a:rPr>
              <a:t>shims </a:t>
            </a:r>
            <a:r>
              <a:rPr lang="zh-CN" altLang="en-US" sz="2000" dirty="0">
                <a:solidFill>
                  <a:schemeClr val="tx1"/>
                </a:solidFill>
              </a:rPr>
              <a:t>都是在 </a:t>
            </a:r>
            <a:r>
              <a:rPr lang="en-US" altLang="zh-CN" sz="2000" dirty="0" err="1">
                <a:solidFill>
                  <a:schemeClr val="tx1"/>
                </a:solidFill>
              </a:rPr>
              <a:t>init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过后的。因此我现在还没什么头绪这个 </a:t>
            </a:r>
            <a:r>
              <a:rPr lang="en-US" altLang="zh-CN" sz="2000" dirty="0" err="1">
                <a:solidFill>
                  <a:schemeClr val="tx1"/>
                </a:solidFill>
              </a:rPr>
              <a:t>init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过程中的问题是怎么解决的。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7CA6B7D-1B6C-65AC-8428-4F1A11839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Axplat</a:t>
            </a:r>
            <a:r>
              <a:rPr lang="en-US" altLang="zh-CN" dirty="0"/>
              <a:t>-MEM-</a:t>
            </a:r>
            <a:r>
              <a:rPr lang="en-US" altLang="zh-CN" dirty="0" err="1"/>
              <a:t>axalloc</a:t>
            </a:r>
            <a:endParaRPr lang="zh-Hans-MO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0905BC-57A3-2CF2-941F-E8C01BD36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52" y="173502"/>
            <a:ext cx="5768590" cy="644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76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51F2-9E4A-27AD-B6E8-3D2A5E57B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AA4CE-2775-9987-58FC-F2608B08C0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后续工作</a:t>
            </a:r>
            <a:endParaRPr lang="zh-Hans-MO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3E492F-7EB6-8C1C-5318-53DFACD356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3411425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88953-8C68-CCFA-B970-4412907D5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4FD95AC-18EB-6739-D7CE-FF751F13F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3" y="2034901"/>
            <a:ext cx="8128653" cy="4220302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把 </a:t>
            </a:r>
            <a:r>
              <a:rPr lang="en-US" altLang="zh-CN" sz="2000" dirty="0" err="1">
                <a:solidFill>
                  <a:schemeClr val="tx1"/>
                </a:solidFill>
              </a:rPr>
              <a:t>axalloc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修改至能 </a:t>
            </a:r>
            <a:r>
              <a:rPr lang="en-US" altLang="zh-CN" sz="2000" dirty="0" err="1">
                <a:solidFill>
                  <a:schemeClr val="tx1"/>
                </a:solidFill>
              </a:rPr>
              <a:t>KernMiri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上运行。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还有 </a:t>
            </a:r>
            <a:r>
              <a:rPr lang="en-US" altLang="zh-CN" sz="2000" dirty="0" err="1">
                <a:solidFill>
                  <a:schemeClr val="tx1"/>
                </a:solidFill>
              </a:rPr>
              <a:t>page_table</a:t>
            </a:r>
            <a:r>
              <a:rPr lang="zh-CN" altLang="en-US" sz="2000" dirty="0">
                <a:solidFill>
                  <a:schemeClr val="tx1"/>
                </a:solidFill>
              </a:rPr>
              <a:t> 的部分可能也要处理好。但 </a:t>
            </a:r>
            <a:r>
              <a:rPr lang="en-US" altLang="zh-CN" sz="2000" dirty="0">
                <a:solidFill>
                  <a:schemeClr val="tx1"/>
                </a:solidFill>
              </a:rPr>
              <a:t>Mitch </a:t>
            </a:r>
            <a:r>
              <a:rPr lang="zh-CN" altLang="en-US" sz="2000" dirty="0">
                <a:solidFill>
                  <a:schemeClr val="tx1"/>
                </a:solidFill>
              </a:rPr>
              <a:t>现在和 </a:t>
            </a:r>
            <a:r>
              <a:rPr lang="en-US" altLang="zh-CN" sz="2000" dirty="0">
                <a:solidFill>
                  <a:schemeClr val="tx1"/>
                </a:solidFill>
              </a:rPr>
              <a:t>x86 </a:t>
            </a:r>
            <a:r>
              <a:rPr lang="zh-CN" altLang="en-US" sz="2000" dirty="0">
                <a:solidFill>
                  <a:schemeClr val="tx1"/>
                </a:solidFill>
              </a:rPr>
              <a:t>的框架应该差不太多。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把上述两个解决好后应该其他就不是大问题了。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7D080B5-6EB9-26FA-6E46-95060DFD1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后续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4261979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5F413-F064-85C8-175D-53858EEBF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B5D49C1-9D62-A61F-2970-8265C40BD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4" y="1758676"/>
            <a:ext cx="10471092" cy="3156224"/>
          </a:xfrm>
        </p:spPr>
        <p:txBody>
          <a:bodyPr>
            <a:normAutofit/>
          </a:bodyPr>
          <a:lstStyle/>
          <a:p>
            <a:r>
              <a:rPr lang="en-US" altLang="zh-CN" sz="2000" dirty="0" err="1">
                <a:solidFill>
                  <a:schemeClr val="tx1"/>
                </a:solidFill>
              </a:rPr>
              <a:t>KernMiri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学习的</a:t>
            </a:r>
            <a:r>
              <a:rPr lang="en-US" altLang="zh-CN" sz="2000" dirty="0">
                <a:solidFill>
                  <a:schemeClr val="tx1"/>
                </a:solidFill>
              </a:rPr>
              <a:t>note</a:t>
            </a:r>
            <a:r>
              <a:rPr lang="zh-CN" altLang="en-US" sz="2000" dirty="0">
                <a:solidFill>
                  <a:schemeClr val="tx1"/>
                </a:solidFill>
              </a:rPr>
              <a:t>以及用法等的文档，调研编译器的记录均在 </a:t>
            </a:r>
            <a:r>
              <a:rPr lang="en-US" altLang="zh-CN" sz="2000" dirty="0" err="1">
                <a:solidFill>
                  <a:schemeClr val="tx1"/>
                </a:solidFill>
              </a:rPr>
              <a:t>KernMiri</a:t>
            </a:r>
            <a:r>
              <a:rPr lang="en-US" altLang="zh-CN" sz="2000" dirty="0">
                <a:solidFill>
                  <a:schemeClr val="tx1"/>
                </a:solidFill>
              </a:rPr>
              <a:t> repo </a:t>
            </a:r>
            <a:r>
              <a:rPr lang="zh-CN" altLang="en-US" sz="2000" dirty="0">
                <a:solidFill>
                  <a:schemeClr val="tx1"/>
                </a:solidFill>
              </a:rPr>
              <a:t>的 </a:t>
            </a:r>
            <a:r>
              <a:rPr lang="en-US" altLang="zh-CN" sz="2000" dirty="0">
                <a:solidFill>
                  <a:schemeClr val="tx1"/>
                </a:solidFill>
              </a:rPr>
              <a:t>doc </a:t>
            </a:r>
            <a:r>
              <a:rPr lang="zh-CN" altLang="en-US" sz="2000" dirty="0">
                <a:solidFill>
                  <a:schemeClr val="tx1"/>
                </a:solidFill>
              </a:rPr>
              <a:t>中。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每周进展在 </a:t>
            </a:r>
            <a:r>
              <a:rPr lang="en-US" altLang="zh-CN" sz="2000" dirty="0">
                <a:solidFill>
                  <a:schemeClr val="tx1"/>
                </a:solidFill>
              </a:rPr>
              <a:t>discussion </a:t>
            </a:r>
            <a:r>
              <a:rPr lang="zh-CN" altLang="en-US" sz="2000" dirty="0">
                <a:solidFill>
                  <a:schemeClr val="tx1"/>
                </a:solidFill>
              </a:rPr>
              <a:t>里面。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CCE0C8D-B229-62A6-4E70-86E228247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文档</a:t>
            </a:r>
            <a:endParaRPr lang="zh-Hans-MO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173955-D202-C084-7EFF-A1A380469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75" y="2657342"/>
            <a:ext cx="8477250" cy="406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27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6E442-79C2-B5D5-C36B-B9FB92CE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CA23CC1-FF63-FDCE-CC7D-96E6C383E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4" y="1815826"/>
            <a:ext cx="10471092" cy="3156224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对于 </a:t>
            </a:r>
            <a:r>
              <a:rPr lang="en-US" altLang="zh-CN" sz="2000" dirty="0" err="1">
                <a:solidFill>
                  <a:schemeClr val="tx1"/>
                </a:solidFill>
              </a:rPr>
              <a:t>axplat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zh-CN" altLang="en-US" sz="2000" dirty="0">
                <a:solidFill>
                  <a:schemeClr val="tx1"/>
                </a:solidFill>
              </a:rPr>
              <a:t>的尝试以及文档则在对应 </a:t>
            </a:r>
            <a:r>
              <a:rPr lang="en-US" altLang="zh-CN" sz="2000" dirty="0">
                <a:solidFill>
                  <a:schemeClr val="tx1"/>
                </a:solidFill>
              </a:rPr>
              <a:t>repo </a:t>
            </a:r>
            <a:r>
              <a:rPr lang="zh-CN" altLang="en-US" sz="2000" dirty="0">
                <a:solidFill>
                  <a:schemeClr val="tx1"/>
                </a:solidFill>
              </a:rPr>
              <a:t>上的 </a:t>
            </a:r>
            <a:r>
              <a:rPr lang="en-US" altLang="zh-CN" sz="2000" dirty="0">
                <a:solidFill>
                  <a:schemeClr val="tx1"/>
                </a:solidFill>
              </a:rPr>
              <a:t>doc </a:t>
            </a:r>
            <a:r>
              <a:rPr lang="zh-CN" altLang="en-US" sz="2000" dirty="0">
                <a:solidFill>
                  <a:schemeClr val="tx1"/>
                </a:solidFill>
              </a:rPr>
              <a:t>中。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B76C2CC-8165-AA6F-992A-32975F45B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文档</a:t>
            </a:r>
            <a:endParaRPr lang="zh-Hans-MO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EF72F1B-83E9-062D-E67D-4E97027C5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775" y="2234326"/>
            <a:ext cx="8305800" cy="449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103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FE145-E394-38DB-1AEB-E0431BE0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5EB0C4B-2788-759F-779D-58B54113F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984" y="1815826"/>
            <a:ext cx="10471092" cy="3156224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报告还没写🫠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10AF242-1792-650F-01E5-89B204AB4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文档</a:t>
            </a:r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2488335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C728-65C4-473C-757C-4B8C0AA2E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073CB-927C-FA6C-89A5-2538A92EA9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Q&amp;A</a:t>
            </a:r>
            <a:endParaRPr lang="zh-Hans-MO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9AABCC-4BC0-91CA-6413-B6E35E9895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ans-MO" altLang="en-US" dirty="0"/>
          </a:p>
        </p:txBody>
      </p:sp>
    </p:spTree>
    <p:extLst>
      <p:ext uri="{BB962C8B-B14F-4D97-AF65-F5344CB8AC3E}">
        <p14:creationId xmlns:p14="http://schemas.microsoft.com/office/powerpoint/2010/main" val="4151695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感谢！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罗绍玮</a:t>
            </a:r>
            <a:endParaRPr kumimoji="1" lang="en-US" altLang="zh-CN" dirty="0"/>
          </a:p>
          <a:p>
            <a:r>
              <a:rPr kumimoji="1" lang="en-US" altLang="zh-CN" dirty="0"/>
              <a:t>2025</a:t>
            </a:r>
            <a:r>
              <a:rPr kumimoji="1" lang="zh-CN" altLang="en-US" dirty="0"/>
              <a:t>年</a:t>
            </a:r>
            <a:r>
              <a:rPr kumimoji="1" lang="en-US" altLang="zh-CN" dirty="0"/>
              <a:t>11</a:t>
            </a:r>
            <a:r>
              <a:rPr kumimoji="1" lang="zh-CN" altLang="en-US" dirty="0"/>
              <a:t>月</a:t>
            </a:r>
            <a:r>
              <a:rPr kumimoji="1" lang="en-US" altLang="zh-CN" dirty="0"/>
              <a:t>11</a:t>
            </a:r>
            <a:r>
              <a:rPr kumimoji="1" lang="zh-CN" altLang="en-US"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990584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清华简约主题-扁平-16:9">
  <a:themeElements>
    <a:clrScheme name="自定义 6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5B2F7C"/>
      </a:accent1>
      <a:accent2>
        <a:srgbClr val="5C2F7D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5324</TotalTime>
  <Words>1482</Words>
  <Application>Microsoft Office PowerPoint</Application>
  <PresentationFormat>宽屏</PresentationFormat>
  <Paragraphs>157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3" baseType="lpstr">
      <vt:lpstr>等线</vt:lpstr>
      <vt:lpstr>Gill Sans MT</vt:lpstr>
      <vt:lpstr>Wingdings</vt:lpstr>
      <vt:lpstr>Wingdings 2</vt:lpstr>
      <vt:lpstr>清华简约主题-扁平-16:9</vt:lpstr>
      <vt:lpstr>尝试让 OS-checker 支持 KernMiri</vt:lpstr>
      <vt:lpstr>目录</vt:lpstr>
      <vt:lpstr>目前进展</vt:lpstr>
      <vt:lpstr>前四周进展</vt:lpstr>
      <vt:lpstr>后四周进展</vt:lpstr>
      <vt:lpstr>后四周进展</vt:lpstr>
      <vt:lpstr>后四周进展</vt:lpstr>
      <vt:lpstr>后四周进展</vt:lpstr>
      <vt:lpstr>后四周进展</vt:lpstr>
      <vt:lpstr>kernmiri</vt:lpstr>
      <vt:lpstr>Kernmiri-动机</vt:lpstr>
      <vt:lpstr>Kernmiri-解决方案</vt:lpstr>
      <vt:lpstr>Kernmiri-内存管理模块</vt:lpstr>
      <vt:lpstr>Kernmiri-内存管理模块</vt:lpstr>
      <vt:lpstr>Kernmiri-页表</vt:lpstr>
      <vt:lpstr>Kernmiri-页表</vt:lpstr>
      <vt:lpstr>Kernmiri-页表</vt:lpstr>
      <vt:lpstr>Kernmiri</vt:lpstr>
      <vt:lpstr>Kernmiri-局限性</vt:lpstr>
      <vt:lpstr>Axplat-kernmiri</vt:lpstr>
      <vt:lpstr>Axplat-动机</vt:lpstr>
      <vt:lpstr>Axplat-结果</vt:lpstr>
      <vt:lpstr>Axplat-结果</vt:lpstr>
      <vt:lpstr>Axplat-config</vt:lpstr>
      <vt:lpstr>Axplat-console/timer</vt:lpstr>
      <vt:lpstr>Axplat-MEM</vt:lpstr>
      <vt:lpstr>Axplat-MEM-axalloc</vt:lpstr>
      <vt:lpstr>Axplat-MEM-axalloc</vt:lpstr>
      <vt:lpstr>Axplat-MEM-axalloc</vt:lpstr>
      <vt:lpstr>Axplat-MEM-axalloc</vt:lpstr>
      <vt:lpstr>Axplat-MEM-axalloc</vt:lpstr>
      <vt:lpstr>后续工作</vt:lpstr>
      <vt:lpstr>后续</vt:lpstr>
      <vt:lpstr>文档</vt:lpstr>
      <vt:lpstr>文档</vt:lpstr>
      <vt:lpstr>文档</vt:lpstr>
      <vt:lpstr>Q&amp;A</vt:lpstr>
      <vt:lpstr>感谢！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伟浩</dc:creator>
  <cp:lastModifiedBy>ill b</cp:lastModifiedBy>
  <cp:revision>1296</cp:revision>
  <cp:lastPrinted>2020-04-04T02:50:47Z</cp:lastPrinted>
  <dcterms:created xsi:type="dcterms:W3CDTF">2020-01-04T07:43:38Z</dcterms:created>
  <dcterms:modified xsi:type="dcterms:W3CDTF">2025-11-10T09:28:17Z</dcterms:modified>
</cp:coreProperties>
</file>